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svg" ContentType="image/svg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Default Extension="gif" ContentType="image/gif"/>
  <Default Extension="jpg" ContentType="image/jpeg"/>
  <Default Extension="jpeg" ContentType="image/jpeg"/>
  <Default Extension="png" ContentType="image/png"/>
  <Default Extension="xlsx" ContentType="application/vnd.openxmlformats-officedocument.spreadsheetml.sheet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  <Relationship Id="rId4" Type="http://schemas.openxmlformats.org/officeDocument/2006/relationships/custom-properties" Target="docProps/custom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9144000" cy="5143500" type="screen16x9"/>
  <p:notesSz cx="6858000" cy="9144000"/>
  <p:defaultTextStyle>
    <a:defPPr>
      <a:defRPr lang="fr-FR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 lastView="sldView">
  <p:slideViewPr>
    <p:cSldViewPr>
      <p:cViewPr>
        <p:scale>
          <a:sx d="100" n="100"/>
          <a:sy d="100" n="100"/>
        </p:scale>
        <p:origin x="0" y="0"/>
      </p:cViewPr>
    </p:cSldViewPr>
  </p:slideViewPr>
</p:viewPr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theme" Target="theme/theme1.xml"/>
  <Relationship Id="rId3" Type="http://schemas.openxmlformats.org/officeDocument/2006/relationships/slide" Target="slides/slide1.xml"/>
  <Relationship Id="rId4" Type="http://schemas.openxmlformats.org/officeDocument/2006/relationships/slide" Target="slides/slide2.xml"/>
  <Relationship Id="rId5" Type="http://schemas.openxmlformats.org/officeDocument/2006/relationships/slide" Target="slides/slide3.xml"/>
  <Relationship Id="rId6" Type="http://schemas.openxmlformats.org/officeDocument/2006/relationships/slide" Target="slides/slide4.xml"/>
  <Relationship Id="rId7" Type="http://schemas.openxmlformats.org/officeDocument/2006/relationships/slide" Target="slides/slide5.xml"/>
  <Relationship Id="rId8" Type="http://schemas.openxmlformats.org/officeDocument/2006/relationships/slide" Target="slides/slide6.xml"/>
  <Relationship Id="rId9" Type="http://schemas.openxmlformats.org/officeDocument/2006/relationships/slide" Target="slides/slide7.xml"/>
  <Relationship Id="rId10" Type="http://schemas.openxmlformats.org/officeDocument/2006/relationships/slide" Target="slides/slide8.xml"/>
  <Relationship Id="rId11" Type="http://schemas.openxmlformats.org/officeDocument/2006/relationships/slide" Target="slides/slide9.xml"/>
  <Relationship Id="rId12" Type="http://schemas.openxmlformats.org/officeDocument/2006/relationships/slide" Target="slides/slide10.xml"/>
  <Relationship Id="rId13" Type="http://schemas.openxmlformats.org/officeDocument/2006/relationships/slide" Target="slides/slide11.xml"/>
  <Relationship Id="rId14" Type="http://schemas.openxmlformats.org/officeDocument/2006/relationships/presProps" Target="presProps.xml"/>
  <Relationship Id="rId15" Type="http://schemas.openxmlformats.org/officeDocument/2006/relationships/viewProps" Target="viewProps.xml"/>
  <Relationship Id="rId16" Type="http://schemas.openxmlformats.org/officeDocument/2006/relationships/tableStyles" Target="tableStyles.xml"/>
</Relationships>
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481684743" r:id="rId1"/>
  </p:sldLayoutIdLst>
  <p:txStyles>
    <p:titleStyle>
      <a:lvl1pPr algn="ctr">
        <a:defRPr sz="4400" kern="1200">
          <a:solidFill>
            <a:schemeClr val="lt1"/>
          </a:solidFill>
        </a:defRPr>
      </a:lvl1pPr>
      <a:extLst/>
    </p:titleStyle>
    <p:bodyStyle>
      <a:lvl1pPr algn="ctr" indent="-342900">
        <a:defRPr sz="3200" kern="1200">
          <a:solidFill>
            <a:schemeClr val="tx1"/>
          </a:solidFill>
        </a:defRPr>
      </a:lvl1pPr>
      <a:extLst/>
    </p:bodyStyle>
    <p:otherStyle>
      <a:defPPr algn="ctr">
        <a:defRPr kern="1200">
          <a:solidFill>
            <a:schemeClr val="tx1"/>
          </a:solidFill>
        </a:defRPr>
      </a:defPPr>
      <a:extLst/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1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381000" y="285750"/>
          <a:ext cx="8953500" cy="5000625"/>
          <a:chOff x="381000" y="285750"/>
          <a:chExt cx="8953500" cy="5000625"/>
        </a:xfrm>
      </p:grpSpPr>
      <p:sp>
        <p:nvSpPr>
          <p:cNvPr id="2" name=""/>
          <p:cNvSpPr txBox="1"/>
          <p:nvPr/>
        </p:nvSpPr>
        <p:spPr>
          <a:xfrm>
            <a:off x="381000" y="285750"/>
            <a:ext cx="8572500" cy="381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400" spc="0" u="none" cap="none">
                <a:solidFill>
                  <a:srgbClr val="1423DC">
                    <a:alpha val="100000"/>
                  </a:srgbClr>
                </a:solidFill>
                <a:latin typeface="Enedis"/>
              </a:rPr>
              <a:t><![CDATA[Revue de sprint – DLK PI#DI06 SP3]]></a:t>
            </a:r>
          </a:p>
        </p:txBody>
      </p:sp>
      <p:sp>
        <p:nvSpPr>
          <p:cNvPr id="3" name=""/>
          <p:cNvSpPr txBox="1"/>
          <p:nvPr/>
        </p:nvSpPr>
        <p:spPr>
          <a:xfrm>
            <a:off x="381000" y="714375"/>
            <a:ext cx="8572500" cy="428625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595959">
                    <a:alpha val="100000"/>
                  </a:srgbClr>
                </a:solidFill>
                <a:latin typeface="Public Sans Light"/>
              </a:rPr>
              <a:t><![CDATA[Du 12/10/2026 au 23/10/2026]]></a:t>
            </a:r>
          </a:p>
        </p:txBody>
      </p:sp>
      <p:sp>
        <p:nvSpPr>
          <p:cNvPr id="4" name="" descr=""/>
          <p:cNvSpPr/>
          <p:nvPr/>
        </p:nvSpPr>
        <p:spPr>
          <a:xfrm>
            <a:off x="381000" y="1238250"/>
            <a:ext cx="1333500" cy="857250"/>
          </a:xfrm>
          <a:prstGeom prst="roundRect">
            <a:avLst/>
          </a:prstGeom>
          <a:solidFill>
            <a:srgbClr val="1423DC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/>
          <p:cNvSpPr txBox="1"/>
          <p:nvPr/>
        </p:nvSpPr>
        <p:spPr>
          <a:xfrm>
            <a:off x="381000" y="1295400"/>
            <a:ext cx="1333500" cy="4191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800" spc="0" u="none" cap="none">
                <a:solidFill>
                  <a:srgbClr val="FFFFFF">
                    <a:alpha val="100000"/>
                  </a:srgbClr>
                </a:solidFill>
                <a:latin typeface="Public Sans Light"/>
              </a:rPr>
              <a:t><![CDATA[36]]></a:t>
            </a:r>
          </a:p>
        </p:txBody>
      </p:sp>
      <p:sp>
        <p:nvSpPr>
          <p:cNvPr id="6" name=""/>
          <p:cNvSpPr txBox="1"/>
          <p:nvPr/>
        </p:nvSpPr>
        <p:spPr>
          <a:xfrm>
            <a:off x="438150" y="1733550"/>
            <a:ext cx="1219200" cy="3238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100" spc="0" u="none" cap="none">
                <a:solidFill>
                  <a:srgbClr val="FFFFFF">
                    <a:alpha val="100000"/>
                  </a:srgbClr>
                </a:solidFill>
                <a:latin typeface="Public Sans Light"/>
              </a:rPr>
              <a:t><![CDATA[Tickets]]></a:t>
            </a:r>
          </a:p>
        </p:txBody>
      </p:sp>
      <p:sp>
        <p:nvSpPr>
          <p:cNvPr id="7" name="" descr=""/>
          <p:cNvSpPr/>
          <p:nvPr/>
        </p:nvSpPr>
        <p:spPr>
          <a:xfrm>
            <a:off x="1828800" y="1238250"/>
            <a:ext cx="1333500" cy="857250"/>
          </a:xfrm>
          <a:prstGeom prst="roundRect">
            <a:avLst/>
          </a:prstGeom>
          <a:solidFill>
            <a:srgbClr val="7F8C8D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8" name=""/>
          <p:cNvSpPr txBox="1"/>
          <p:nvPr/>
        </p:nvSpPr>
        <p:spPr>
          <a:xfrm>
            <a:off x="1828800" y="1295400"/>
            <a:ext cx="1333500" cy="4191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800" spc="0" u="none" cap="none">
                <a:solidFill>
                  <a:srgbClr val="FFFFFF">
                    <a:alpha val="100000"/>
                  </a:srgbClr>
                </a:solidFill>
                <a:latin typeface="Public Sans Light"/>
              </a:rPr>
              <a:t><![CDATA[9]]></a:t>
            </a:r>
          </a:p>
        </p:txBody>
      </p:sp>
      <p:sp>
        <p:nvSpPr>
          <p:cNvPr id="9" name=""/>
          <p:cNvSpPr txBox="1"/>
          <p:nvPr/>
        </p:nvSpPr>
        <p:spPr>
          <a:xfrm>
            <a:off x="1885950" y="1733550"/>
            <a:ext cx="1219200" cy="3238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100" spc="0" u="none" cap="none">
                <a:solidFill>
                  <a:srgbClr val="FFFFFF">
                    <a:alpha val="100000"/>
                  </a:srgbClr>
                </a:solidFill>
                <a:latin typeface="Public Sans Light"/>
              </a:rPr>
              <a:t><![CDATA[À faire]]></a:t>
            </a:r>
          </a:p>
        </p:txBody>
      </p:sp>
      <p:sp>
        <p:nvSpPr>
          <p:cNvPr id="10" name="" descr=""/>
          <p:cNvSpPr/>
          <p:nvPr/>
        </p:nvSpPr>
        <p:spPr>
          <a:xfrm>
            <a:off x="3276600" y="1238250"/>
            <a:ext cx="1333500" cy="857250"/>
          </a:xfrm>
          <a:prstGeom prst="roundRect">
            <a:avLst/>
          </a:prstGeom>
          <a:solidFill>
            <a:srgbClr val="8E44AD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1" name=""/>
          <p:cNvSpPr txBox="1"/>
          <p:nvPr/>
        </p:nvSpPr>
        <p:spPr>
          <a:xfrm>
            <a:off x="3276600" y="1295400"/>
            <a:ext cx="1333500" cy="4191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800" spc="0" u="none" cap="none">
                <a:solidFill>
                  <a:srgbClr val="FFFFFF">
                    <a:alpha val="100000"/>
                  </a:srgbClr>
                </a:solidFill>
                <a:latin typeface="Public Sans Light"/>
              </a:rPr>
              <a:t><![CDATA[13]]></a:t>
            </a:r>
          </a:p>
        </p:txBody>
      </p:sp>
      <p:sp>
        <p:nvSpPr>
          <p:cNvPr id="12" name=""/>
          <p:cNvSpPr txBox="1"/>
          <p:nvPr/>
        </p:nvSpPr>
        <p:spPr>
          <a:xfrm>
            <a:off x="3333750" y="1733550"/>
            <a:ext cx="1219200" cy="3238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100" spc="0" u="none" cap="none">
                <a:solidFill>
                  <a:srgbClr val="FFFFFF">
                    <a:alpha val="100000"/>
                  </a:srgbClr>
                </a:solidFill>
                <a:latin typeface="Public Sans Light"/>
              </a:rPr>
              <a:t><![CDATA[En cours]]></a:t>
            </a:r>
          </a:p>
        </p:txBody>
      </p:sp>
      <p:sp>
        <p:nvSpPr>
          <p:cNvPr id="13" name="" descr=""/>
          <p:cNvSpPr/>
          <p:nvPr/>
        </p:nvSpPr>
        <p:spPr>
          <a:xfrm>
            <a:off x="4724400" y="1238250"/>
            <a:ext cx="1333500" cy="857250"/>
          </a:xfrm>
          <a:prstGeom prst="roundRect">
            <a:avLst/>
          </a:prstGeom>
          <a:solidFill>
            <a:srgbClr val="1ABC9C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4" name=""/>
          <p:cNvSpPr txBox="1"/>
          <p:nvPr/>
        </p:nvSpPr>
        <p:spPr>
          <a:xfrm>
            <a:off x="4724400" y="1295400"/>
            <a:ext cx="1333500" cy="4191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800" spc="0" u="none" cap="none">
                <a:solidFill>
                  <a:srgbClr val="FFFFFF">
                    <a:alpha val="100000"/>
                  </a:srgbClr>
                </a:solidFill>
                <a:latin typeface="Public Sans Light"/>
              </a:rPr>
              <a:t><![CDATA[14]]></a:t>
            </a:r>
          </a:p>
        </p:txBody>
      </p:sp>
      <p:sp>
        <p:nvSpPr>
          <p:cNvPr id="15" name=""/>
          <p:cNvSpPr txBox="1"/>
          <p:nvPr/>
        </p:nvSpPr>
        <p:spPr>
          <a:xfrm>
            <a:off x="4781550" y="1733550"/>
            <a:ext cx="1219200" cy="3238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100" spc="0" u="none" cap="none">
                <a:solidFill>
                  <a:srgbClr val="FFFFFF">
                    <a:alpha val="100000"/>
                  </a:srgbClr>
                </a:solidFill>
                <a:latin typeface="Public Sans Light"/>
              </a:rPr>
              <a:t><![CDATA[Terminés]]></a:t>
            </a:r>
          </a:p>
        </p:txBody>
      </p:sp>
      <p:sp>
        <p:nvSpPr>
          <p:cNvPr id="16" name="" descr=""/>
          <p:cNvSpPr/>
          <p:nvPr/>
        </p:nvSpPr>
        <p:spPr>
          <a:xfrm>
            <a:off x="6172200" y="1238250"/>
            <a:ext cx="1333500" cy="857250"/>
          </a:xfrm>
          <a:prstGeom prst="roundRect">
            <a:avLst/>
          </a:prstGeom>
          <a:solidFill>
            <a:srgbClr val="E67E22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7" name=""/>
          <p:cNvSpPr txBox="1"/>
          <p:nvPr/>
        </p:nvSpPr>
        <p:spPr>
          <a:xfrm>
            <a:off x="6172200" y="1295400"/>
            <a:ext cx="1333500" cy="4191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800" spc="0" u="none" cap="none">
                <a:solidFill>
                  <a:srgbClr val="FFFFFF">
                    <a:alpha val="100000"/>
                  </a:srgbClr>
                </a:solidFill>
                <a:latin typeface="Public Sans Light"/>
              </a:rPr>
              <a:t><![CDATA[12]]></a:t>
            </a:r>
          </a:p>
        </p:txBody>
      </p:sp>
      <p:sp>
        <p:nvSpPr>
          <p:cNvPr id="18" name=""/>
          <p:cNvSpPr txBox="1"/>
          <p:nvPr/>
        </p:nvSpPr>
        <p:spPr>
          <a:xfrm>
            <a:off x="6229350" y="1733550"/>
            <a:ext cx="1219200" cy="3238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100" spc="0" u="none" cap="none">
                <a:solidFill>
                  <a:srgbClr val="FFFFFF">
                    <a:alpha val="100000"/>
                  </a:srgbClr>
                </a:solidFill>
                <a:latin typeface="Public Sans Light"/>
              </a:rPr>
              <a:t><![CDATA[Ajoutés en cours de sprint]]></a:t>
            </a:r>
          </a:p>
        </p:txBody>
      </p:sp>
      <p:sp>
        <p:nvSpPr>
          <p:cNvPr id="19" name="" descr=""/>
          <p:cNvSpPr/>
          <p:nvPr/>
        </p:nvSpPr>
        <p:spPr>
          <a:xfrm>
            <a:off x="7620000" y="1238250"/>
            <a:ext cx="1333500" cy="857250"/>
          </a:xfrm>
          <a:prstGeom prst="roundRect">
            <a:avLst/>
          </a:prstGeom>
          <a:solidFill>
            <a:srgbClr val="595959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20" name=""/>
          <p:cNvSpPr txBox="1"/>
          <p:nvPr/>
        </p:nvSpPr>
        <p:spPr>
          <a:xfrm>
            <a:off x="7620000" y="1295400"/>
            <a:ext cx="1333500" cy="4191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800" spc="0" u="none" cap="none">
                <a:solidFill>
                  <a:srgbClr val="FFFFFF">
                    <a:alpha val="100000"/>
                  </a:srgbClr>
                </a:solidFill>
                <a:latin typeface="Public Sans Light"/>
              </a:rPr>
              <a:t><![CDATA[3]]></a:t>
            </a:r>
          </a:p>
        </p:txBody>
      </p:sp>
      <p:sp>
        <p:nvSpPr>
          <p:cNvPr id="21" name=""/>
          <p:cNvSpPr txBox="1"/>
          <p:nvPr/>
        </p:nvSpPr>
        <p:spPr>
          <a:xfrm>
            <a:off x="7677150" y="1733550"/>
            <a:ext cx="1219200" cy="3238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100" spc="0" u="none" cap="none">
                <a:solidFill>
                  <a:srgbClr val="FFFFFF">
                    <a:alpha val="100000"/>
                  </a:srgbClr>
                </a:solidFill>
                <a:latin typeface="Public Sans Light"/>
              </a:rPr>
              <a:t><![CDATA[Sortis du sprint]]></a:t>
            </a:r>
          </a:p>
        </p:txBody>
      </p:sp>
      <p:sp>
        <p:nvSpPr>
          <p:cNvPr id="22" name=""/>
          <p:cNvSpPr txBox="1"/>
          <p:nvPr/>
        </p:nvSpPr>
        <p:spPr>
          <a:xfrm>
            <a:off x="381000" y="2247900"/>
            <a:ext cx="5334000" cy="2286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400" spc="0" u="none" cap="none">
                <a:solidFill>
                  <a:srgbClr val="000000">
                    <a:alpha val="100000"/>
                  </a:srgbClr>
                </a:solidFill>
                <a:latin typeface="Public Sans Light"/>
              </a:rPr>
              <a:t><![CDATA[Avancement : 39 % (14 / 36 tickets)]]></a:t>
            </a:r>
          </a:p>
        </p:txBody>
      </p:sp>
      <p:sp>
        <p:nvSpPr>
          <p:cNvPr id="23" name=""/>
          <p:cNvSpPr txBox="1"/>
          <p:nvPr/>
        </p:nvSpPr>
        <p:spPr>
          <a:xfrm>
            <a:off x="5715000" y="2247900"/>
            <a:ext cx="3238500" cy="2286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400" spc="0" u="none" cap="none">
                <a:solidFill>
                  <a:srgbClr val="000000">
                    <a:alpha val="100000"/>
                  </a:srgbClr>
                </a:solidFill>
                <a:latin typeface="Public Sans Light"/>
              </a:rPr>
              <a:t><![CDATA[Points : 23 / 98]]></a:t>
            </a:r>
          </a:p>
        </p:txBody>
      </p:sp>
      <p:sp>
        <p:nvSpPr>
          <p:cNvPr id="24" name="" descr=""/>
          <p:cNvSpPr/>
          <p:nvPr/>
        </p:nvSpPr>
        <p:spPr>
          <a:xfrm>
            <a:off x="381000" y="2533650"/>
            <a:ext cx="8572500" cy="133350"/>
          </a:xfrm>
          <a:prstGeom prst="roundRect">
            <a:avLst/>
          </a:prstGeom>
          <a:solidFill>
            <a:srgbClr val="E0E0E0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25" name="" descr=""/>
          <p:cNvSpPr/>
          <p:nvPr/>
        </p:nvSpPr>
        <p:spPr>
          <a:xfrm>
            <a:off x="381000" y="2533650"/>
            <a:ext cx="3333750" cy="133350"/>
          </a:xfrm>
          <a:prstGeom prst="roundRect">
            <a:avLst/>
          </a:prstGeom>
          <a:solidFill>
            <a:srgbClr val="1ABC9C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26" name=""/>
          <p:cNvSpPr txBox="1"/>
          <p:nvPr/>
        </p:nvSpPr>
        <p:spPr>
          <a:xfrm>
            <a:off x="381000" y="2905125"/>
            <a:ext cx="4095750" cy="2095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400" spc="0" u="none" cap="none">
                <a:solidFill>
                  <a:srgbClr val="1423DC">
                    <a:alpha val="100000"/>
                  </a:srgbClr>
                </a:solidFill>
                <a:latin typeface="Enedis"/>
              </a:rPr>
              <a:t><![CDATA[Périmètre de la démo]]></a:t>
            </a:r>
          </a:p>
        </p:txBody>
      </p:sp>
      <p:sp>
        <p:nvSpPr>
          <p:cNvPr id="27" name=""/>
          <p:cNvSpPr txBox="1"/>
          <p:nvPr/>
        </p:nvSpPr>
        <p:spPr>
          <a:xfrm>
            <a:off x="381000" y="3162300"/>
            <a:ext cx="4095750" cy="1333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300" spc="0" u="none" cap="none">
                <a:solidFill>
                  <a:srgbClr val="000000">
                    <a:alpha val="100000"/>
                  </a:srgbClr>
                </a:solidFill>
                <a:latin typeface="Public Sans Light"/>
              </a:rPr>
              <a:t><![CDATA[Présentés en démo : 10]]></a:t>
            </a:r>
            <a:br/>
            <a:r>
              <a:rPr lang="en-US" strike="noStrike" sz="1300" spc="0" u="none" cap="none">
                <a:solidFill>
                  <a:srgbClr val="000000">
                    <a:alpha val="100000"/>
                  </a:srgbClr>
                </a:solidFill>
                <a:latin typeface="Public Sans Light"/>
              </a:rPr>
              <a:t><![CDATA[Éligibles sans dev identifiable : 1]]></a:t>
            </a:r>
            <a:br/>
            <a:r>
              <a:rPr lang="en-US" strike="noStrike" sz="1300" spc="0" u="none" cap="none">
                <a:solidFill>
                  <a:srgbClr val="000000">
                    <a:alpha val="100000"/>
                  </a:srgbClr>
                </a:solidFill>
                <a:latin typeface="Public Sans Light"/>
              </a:rPr>
              <a:t><![CDATA[Hors périmètre démo (autres types / statuts) : 25]]></a:t>
            </a:r>
            <a:br/>
            <a:r>
              <a:rPr lang="en-US" strike="noStrike" sz="1300" spc="0" u="none" cap="none">
                <a:solidFill>
                  <a:srgbClr val="000000">
                    <a:alpha val="100000"/>
                  </a:srgbClr>
                </a:solidFill>
                <a:latin typeface="Public Sans Light"/>
              </a:rPr>
              <a:t><![CDATA[Dont attribués via l'historique : 5]]></a:t>
            </a:r>
          </a:p>
        </p:txBody>
      </p:sp>
      <p:sp>
        <p:nvSpPr>
          <p:cNvPr id="28" name=""/>
          <p:cNvSpPr txBox="1"/>
          <p:nvPr/>
        </p:nvSpPr>
        <p:spPr>
          <a:xfrm>
            <a:off x="4667250" y="2905125"/>
            <a:ext cx="4286250" cy="2095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400" spc="0" u="none" cap="none">
                <a:solidFill>
                  <a:srgbClr val="1423DC">
                    <a:alpha val="100000"/>
                  </a:srgbClr>
                </a:solidFill>
                <a:latin typeface="Enedis"/>
              </a:rPr>
              <a:t><![CDATA[Répartition par développeur]]></a:t>
            </a:r>
          </a:p>
        </p:txBody>
      </p:sp>
      <p:sp>
        <p:nvSpPr>
          <p:cNvPr id="29" name=""/>
          <p:cNvSpPr txBox="1"/>
          <p:nvPr/>
        </p:nvSpPr>
        <p:spPr>
          <a:xfrm>
            <a:off x="4667250" y="3162300"/>
            <a:ext cx="4286250" cy="1524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300" spc="0" u="none" cap="none">
                <a:solidFill>
                  <a:srgbClr val="000000">
                    <a:alpha val="100000"/>
                  </a:srgbClr>
                </a:solidFill>
                <a:latin typeface="Public Sans Light"/>
              </a:rPr>
              <a:t><![CDATA[Ting (Dev) : 4 tickets, dont 1 terminé]]></a:t>
            </a:r>
            <a:br/>
            <a:r>
              <a:rPr lang="en-US" strike="noStrike" sz="1300" spc="0" u="none" cap="none">
                <a:solidFill>
                  <a:srgbClr val="000000">
                    <a:alpha val="100000"/>
                  </a:srgbClr>
                </a:solidFill>
                <a:latin typeface="Public Sans Light"/>
              </a:rPr>
              <a:t><![CDATA[Arij (Dev) : 3 tickets, dont 1 terminé]]></a:t>
            </a:r>
            <a:br/>
            <a:r>
              <a:rPr lang="en-US" strike="noStrike" sz="1300" spc="0" u="none" cap="none">
                <a:solidFill>
                  <a:srgbClr val="000000">
                    <a:alpha val="100000"/>
                  </a:srgbClr>
                </a:solidFill>
                <a:latin typeface="Public Sans Light"/>
              </a:rPr>
              <a:t><![CDATA[Kenza (Dev) : 3 tickets, dont 1 terminé]]></a:t>
            </a:r>
          </a:p>
        </p:txBody>
      </p:sp>
      <p:sp>
        <p:nvSpPr>
          <p:cNvPr id="30" name=""/>
          <p:cNvSpPr txBox="1"/>
          <p:nvPr/>
        </p:nvSpPr>
        <p:spPr>
          <a:xfrm>
            <a:off x="381000" y="4810125"/>
            <a:ext cx="2857500" cy="190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100" spc="0" u="none" cap="none">
                <a:solidFill>
                  <a:srgbClr val="1423DC">
                    <a:alpha val="100000"/>
                  </a:srgbClr>
                </a:solidFill>
                <a:latin typeface="Enedis"/>
              </a:rPr>
              <a:t><![CDATA[ENEDIS]]>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381000" y="285750"/>
          <a:ext cx="8953500" cy="5000625"/>
          <a:chOff x="381000" y="285750"/>
          <a:chExt cx="8953500" cy="5000625"/>
        </a:xfrm>
      </p:grpSpPr>
      <p:sp>
        <p:nvSpPr>
          <p:cNvPr id="2" name=""/>
          <p:cNvSpPr txBox="1"/>
          <p:nvPr/>
        </p:nvSpPr>
        <p:spPr>
          <a:xfrm>
            <a:off x="381000" y="285750"/>
            <a:ext cx="8572500" cy="381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400" spc="0" u="none" cap="none">
                <a:solidFill>
                  <a:srgbClr val="1423DC">
                    <a:alpha val="100000"/>
                  </a:srgbClr>
                </a:solidFill>
                <a:latin typeface="Enedis"/>
              </a:rPr>
              <a:t><![CDATA[HDR – Flux coupures-troncon-bt-resynchro]]></a:t>
            </a:r>
          </a:p>
        </p:txBody>
      </p:sp>
      <p:sp>
        <p:nvSpPr>
          <p:cNvPr id="3" name=""/>
          <p:cNvSpPr txBox="1"/>
          <p:nvPr/>
        </p:nvSpPr>
        <p:spPr>
          <a:xfrm>
            <a:off x="381000" y="714375"/>
            <a:ext cx="8572500" cy="4762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595959">
                    <a:alpha val="100000"/>
                  </a:srgbClr>
                </a:solidFill>
                <a:latin typeface="Public Sans Light"/>
              </a:rPr>
              <a:t><![CDATA[HDR est un SI dont le cœur de métier est de connaitre l’intégralité de la topologie réseau détenu par ENEDIS. De l’aval connecté à RTE aux PRM représentants les compteurs linky.]]></a:t>
            </a:r>
          </a:p>
        </p:txBody>
      </p:sp>
      <p:sp>
        <p:nvSpPr>
          <p:cNvPr id="4" name="" descr=""/>
          <p:cNvSpPr/>
          <p:nvPr/>
        </p:nvSpPr>
        <p:spPr>
          <a:xfrm>
            <a:off x="381000" y="1333500"/>
            <a:ext cx="952500" cy="304800"/>
          </a:xfrm>
          <a:prstGeom prst="roundRect">
            <a:avLst/>
          </a:prstGeom>
          <a:solidFill>
            <a:srgbClr val="33989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/>
          <p:cNvSpPr txBox="1"/>
          <p:nvPr/>
        </p:nvSpPr>
        <p:spPr>
          <a:xfrm>
            <a:off x="381000" y="1333500"/>
            <a:ext cx="952500" cy="304800"/>
          </a:xfrm>
          <a:prstGeom prst="rect">
            <a:avLst/>
          </a:prstGeom>
          <a:noFill/>
        </p:spPr>
        <p:txBody>
          <a:bodyPr anchor="ctr" anchorCtr="0" rtlCol="0" vert="horz" bIns="45720" lIns="91440" rIns="91440" tIns="45720">
            <a:spAutoFit/>
          </a:bodyPr>
          <a:lstStyle/>
          <a:p>
            <a:pPr algn="ctr" rtl="0" fontAlgn="ctr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200" spc="0" u="none" cap="none">
                <a:solidFill>
                  <a:srgbClr val="FFFFFF">
                    <a:alpha val="100000"/>
                  </a:srgbClr>
                </a:solidFill>
                <a:latin typeface="Public Sans Light"/>
              </a:rPr>
              <a:t><![CDATA[Nouveau]]></a:t>
            </a:r>
          </a:p>
        </p:txBody>
      </p:sp>
      <p:sp>
        <p:nvSpPr>
          <p:cNvPr id="6" name="" descr=""/>
          <p:cNvSpPr/>
          <p:nvPr/>
        </p:nvSpPr>
        <p:spPr>
          <a:xfrm>
            <a:off x="381000" y="1762125"/>
            <a:ext cx="952500" cy="304800"/>
          </a:xfrm>
          <a:prstGeom prst="roundRect">
            <a:avLst/>
          </a:prstGeom>
          <a:solidFill>
            <a:srgbClr val="8E44AD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/>
          <p:cNvSpPr txBox="1"/>
          <p:nvPr/>
        </p:nvSpPr>
        <p:spPr>
          <a:xfrm>
            <a:off x="381000" y="1762125"/>
            <a:ext cx="952500" cy="304800"/>
          </a:xfrm>
          <a:prstGeom prst="rect">
            <a:avLst/>
          </a:prstGeom>
          <a:noFill/>
        </p:spPr>
        <p:txBody>
          <a:bodyPr anchor="ctr" anchorCtr="0" rtlCol="0" vert="horz" bIns="45720" lIns="91440" rIns="91440" tIns="45720">
            <a:spAutoFit/>
          </a:bodyPr>
          <a:lstStyle/>
          <a:p>
            <a:pPr algn="ctr" rtl="0" fontAlgn="ctr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200" spc="0" u="none" cap="none">
                <a:solidFill>
                  <a:srgbClr val="FFFFFF">
                    <a:alpha val="100000"/>
                  </a:srgbClr>
                </a:solidFill>
                <a:latin typeface="Public Sans Light"/>
              </a:rPr>
              <a:t><![CDATA[Recette]]></a:t>
            </a:r>
          </a:p>
        </p:txBody>
      </p:sp>
      <p:sp>
        <p:nvSpPr>
          <p:cNvPr id="8" name="" descr=""/>
          <p:cNvSpPr/>
          <p:nvPr/>
        </p:nvSpPr>
        <p:spPr>
          <a:xfrm>
            <a:off x="381000" y="2286000"/>
            <a:ext cx="952500" cy="304800"/>
          </a:xfrm>
          <a:prstGeom prst="roundRect">
            <a:avLst/>
          </a:prstGeom>
          <a:solidFill>
            <a:srgbClr val="7F8C8D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9" name=""/>
          <p:cNvSpPr txBox="1"/>
          <p:nvPr/>
        </p:nvSpPr>
        <p:spPr>
          <a:xfrm>
            <a:off x="381000" y="2286000"/>
            <a:ext cx="952500" cy="304800"/>
          </a:xfrm>
          <a:prstGeom prst="rect">
            <a:avLst/>
          </a:prstGeom>
          <a:noFill/>
        </p:spPr>
        <p:txBody>
          <a:bodyPr anchor="ctr" anchorCtr="0" rtlCol="0" vert="horz" bIns="45720" lIns="91440" rIns="91440" tIns="45720">
            <a:spAutoFit/>
          </a:bodyPr>
          <a:lstStyle/>
          <a:p>
            <a:pPr algn="ctr" rtl="0" fontAlgn="ctr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200" spc="0" u="none" cap="none">
                <a:solidFill>
                  <a:srgbClr val="FFFFFF">
                    <a:alpha val="100000"/>
                  </a:srgbClr>
                </a:solidFill>
                <a:latin typeface="Public Sans Light"/>
              </a:rPr>
              <a:t><![CDATA[N/C]]></a:t>
            </a:r>
          </a:p>
        </p:txBody>
      </p:sp>
      <p:sp>
        <p:nvSpPr>
          <p:cNvPr id="10" name=""/>
          <p:cNvSpPr txBox="1"/>
          <p:nvPr/>
        </p:nvSpPr>
        <p:spPr>
          <a:xfrm>
            <a:off x="1905000" y="1333500"/>
            <a:ext cx="6667500" cy="8572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i="1" strike="noStrike" sz="1400" spc="0" u="none" cap="none">
                <a:solidFill>
                  <a:srgbClr val="7F8C8D">
                    <a:alpha val="100000"/>
                  </a:srgbClr>
                </a:solidFill>
                <a:latin typeface="Public Sans Light"/>
              </a:rPr>
              <a:t><![CDATA[Objectif non renseigné dans le ticket]]></a:t>
            </a:r>
          </a:p>
        </p:txBody>
      </p:sp>
      <p:sp>
        <p:nvSpPr>
          <p:cNvPr id="11" name=""/>
          <p:cNvSpPr txBox="1"/>
          <p:nvPr/>
        </p:nvSpPr>
        <p:spPr>
          <a:xfrm>
            <a:off x="1905000" y="2238375"/>
            <a:ext cx="6667500" cy="285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300" spc="0" u="none" cap="none">
                <a:solidFill>
                  <a:srgbClr val="000000">
                    <a:alpha val="100000"/>
                  </a:srgbClr>
                </a:solidFill>
                <a:latin typeface="Public Sans Light"/>
              </a:rPr>
              <a:t><![CDATA[Consommateurs : Non spécifié]]></a:t>
            </a:r>
          </a:p>
        </p:txBody>
      </p:sp>
      <p:sp>
        <p:nvSpPr>
          <p:cNvPr id="12" name=""/>
          <p:cNvSpPr txBox="1"/>
          <p:nvPr/>
        </p:nvSpPr>
        <p:spPr>
          <a:xfrm>
            <a:off x="1905000" y="2571750"/>
            <a:ext cx="6667500" cy="285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300" spc="0" u="none" cap="none">
                <a:solidFill>
                  <a:srgbClr val="000000">
                    <a:alpha val="100000"/>
                  </a:srgbClr>
                </a:solidFill>
                <a:latin typeface="Public Sans Light"/>
              </a:rPr>
              <a:t><![CDATA[OM :  ]]></a:t>
            </a:r>
          </a:p>
        </p:txBody>
      </p:sp>
      <p:sp>
        <p:nvSpPr>
          <p:cNvPr id="13" name="" descr=""/>
          <p:cNvSpPr/>
          <p:nvPr/>
        </p:nvSpPr>
        <p:spPr>
          <a:xfrm>
            <a:off x="381000" y="3000375"/>
            <a:ext cx="8572500" cy="714375"/>
          </a:xfrm>
          <a:prstGeom prst="roundRect">
            <a:avLst/>
          </a:prstGeom>
          <a:solidFill>
            <a:srgbClr val="FFE6F2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4" name=""/>
          <p:cNvSpPr txBox="1"/>
          <p:nvPr/>
        </p:nvSpPr>
        <p:spPr>
          <a:xfrm>
            <a:off x="523875" y="3209925"/>
            <a:ext cx="8286750" cy="4762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000000">
                    <a:alpha val="100000"/>
                  </a:srgbClr>
                </a:solidFill>
                <a:latin typeface="Consolas"/>
              </a:rPr>
              <a:t><![CDATA[/projects/PRD/HAS/DLK/trusted-zone/HDR/FRA/COUPURE_TRONCON_BT_RESYNCHRO]]></a:t>
            </a:r>
          </a:p>
        </p:txBody>
      </p:sp>
      <p:sp>
        <p:nvSpPr>
          <p:cNvPr id="15" name="" descr=""/>
          <p:cNvSpPr/>
          <p:nvPr/>
        </p:nvSpPr>
        <p:spPr>
          <a:xfrm>
            <a:off x="619125" y="2905125"/>
            <a:ext cx="714375" cy="209550"/>
          </a:xfrm>
          <a:prstGeom prst="round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6" name=""/>
          <p:cNvSpPr txBox="1"/>
          <p:nvPr/>
        </p:nvSpPr>
        <p:spPr>
          <a:xfrm>
            <a:off x="619125" y="2905125"/>
            <a:ext cx="714375" cy="209550"/>
          </a:xfrm>
          <a:prstGeom prst="rect">
            <a:avLst/>
          </a:prstGeom>
          <a:noFill/>
        </p:spPr>
        <p:txBody>
          <a:bodyPr anchor="ctr" anchorCtr="0" rtlCol="0" vert="horz" bIns="45720" lIns="91440" rIns="91440" tIns="45720">
            <a:spAutoFit/>
          </a:bodyPr>
          <a:lstStyle/>
          <a:p>
            <a:pPr algn="ctr" rtl="0" fontAlgn="ctr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100" spc="0" u="none" cap="none">
                <a:solidFill>
                  <a:srgbClr val="000000">
                    <a:alpha val="100000"/>
                  </a:srgbClr>
                </a:solidFill>
                <a:latin typeface="Enedis"/>
              </a:rPr>
              <a:t><![CDATA[PATH]]></a:t>
            </a:r>
          </a:p>
        </p:txBody>
      </p:sp>
      <p:sp>
        <p:nvSpPr>
          <p:cNvPr id="17" name="" descr=""/>
          <p:cNvSpPr/>
          <p:nvPr/>
        </p:nvSpPr>
        <p:spPr>
          <a:xfrm>
            <a:off x="381000" y="3905250"/>
            <a:ext cx="8572500" cy="714375"/>
          </a:xfrm>
          <a:prstGeom prst="roundRect">
            <a:avLst/>
          </a:prstGeom>
          <a:solidFill>
            <a:srgbClr val="F0E6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8" name=""/>
          <p:cNvSpPr txBox="1"/>
          <p:nvPr/>
        </p:nvSpPr>
        <p:spPr>
          <a:xfrm>
            <a:off x="523875" y="4114800"/>
            <a:ext cx="8286750" cy="4762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000000">
                    <a:alpha val="100000"/>
                  </a:srgbClr>
                </a:solidFill>
                <a:latin typeface="Consolas"/>
              </a:rPr>
              <a:t><![CDATA[hdr_coupures_troncon_bt_resynchro_fra]]></a:t>
            </a:r>
          </a:p>
        </p:txBody>
      </p:sp>
      <p:sp>
        <p:nvSpPr>
          <p:cNvPr id="19" name="" descr=""/>
          <p:cNvSpPr/>
          <p:nvPr/>
        </p:nvSpPr>
        <p:spPr>
          <a:xfrm>
            <a:off x="619125" y="3810000"/>
            <a:ext cx="714375" cy="209550"/>
          </a:xfrm>
          <a:prstGeom prst="round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20" name=""/>
          <p:cNvSpPr txBox="1"/>
          <p:nvPr/>
        </p:nvSpPr>
        <p:spPr>
          <a:xfrm>
            <a:off x="619125" y="3810000"/>
            <a:ext cx="714375" cy="209550"/>
          </a:xfrm>
          <a:prstGeom prst="rect">
            <a:avLst/>
          </a:prstGeom>
          <a:noFill/>
        </p:spPr>
        <p:txBody>
          <a:bodyPr anchor="ctr" anchorCtr="0" rtlCol="0" vert="horz" bIns="45720" lIns="91440" rIns="91440" tIns="45720">
            <a:spAutoFit/>
          </a:bodyPr>
          <a:lstStyle/>
          <a:p>
            <a:pPr algn="ctr" rtl="0" fontAlgn="ctr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100" spc="0" u="none" cap="none">
                <a:solidFill>
                  <a:srgbClr val="000000">
                    <a:alpha val="100000"/>
                  </a:srgbClr>
                </a:solidFill>
                <a:latin typeface="Enedis"/>
              </a:rPr>
              <a:t><![CDATA[HIVE]]></a:t>
            </a:r>
          </a:p>
        </p:txBody>
      </p:sp>
      <p:sp>
        <p:nvSpPr>
          <p:cNvPr id="21" name=""/>
          <p:cNvSpPr txBox="1"/>
          <p:nvPr/>
        </p:nvSpPr>
        <p:spPr>
          <a:xfrm>
            <a:off x="381000" y="4810125"/>
            <a:ext cx="2857500" cy="190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100" spc="0" u="none" cap="none">
                <a:solidFill>
                  <a:srgbClr val="1423DC">
                    <a:alpha val="100000"/>
                  </a:srgbClr>
                </a:solidFill>
                <a:latin typeface="Enedis"/>
              </a:rPr>
              <a:t><![CDATA[ENEDIS]]></a:t>
            </a:r>
          </a:p>
        </p:txBody>
      </p:sp>
      <p:sp>
        <p:nvSpPr>
          <p:cNvPr id="22" name=""/>
          <p:cNvSpPr txBox="1"/>
          <p:nvPr/>
        </p:nvSpPr>
        <p:spPr>
          <a:xfrm>
            <a:off x="4191000" y="4810125"/>
            <a:ext cx="4572000" cy="190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100" spc="0" u="none" cap="none">
                <a:solidFill>
                  <a:srgbClr val="595959">
                    <a:alpha val="100000"/>
                  </a:srgbClr>
                </a:solidFill>
                <a:latin typeface="Public Sans Light"/>
              </a:rPr>
              <a:t><![CDATA[B4A-39443  ·  Arij (Dev)]]>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381000" y="285750"/>
          <a:ext cx="8953500" cy="5000625"/>
          <a:chOff x="381000" y="285750"/>
          <a:chExt cx="8953500" cy="5000625"/>
        </a:xfrm>
      </p:grpSpPr>
      <p:sp>
        <p:nvSpPr>
          <p:cNvPr id="2" name=""/>
          <p:cNvSpPr txBox="1"/>
          <p:nvPr/>
        </p:nvSpPr>
        <p:spPr>
          <a:xfrm>
            <a:off x="381000" y="285750"/>
            <a:ext cx="8572500" cy="381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400" spc="0" u="none" cap="none">
                <a:solidFill>
                  <a:srgbClr val="1423DC">
                    <a:alpha val="100000"/>
                  </a:srgbClr>
                </a:solidFill>
                <a:latin typeface="Enedis"/>
              </a:rPr>
              <a:t><![CDATA[HDR – Flux coupures-troncon-bt]]></a:t>
            </a:r>
          </a:p>
        </p:txBody>
      </p:sp>
      <p:sp>
        <p:nvSpPr>
          <p:cNvPr id="3" name=""/>
          <p:cNvSpPr txBox="1"/>
          <p:nvPr/>
        </p:nvSpPr>
        <p:spPr>
          <a:xfrm>
            <a:off x="381000" y="714375"/>
            <a:ext cx="8572500" cy="4762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595959">
                    <a:alpha val="100000"/>
                  </a:srgbClr>
                </a:solidFill>
                <a:latin typeface="Public Sans Light"/>
              </a:rPr>
              <a:t><![CDATA[HDR est un SI dont le cœur de métier est de connaitre l’intégralité de la topologie réseau détenu par ENEDIS. De l’aval connecté à RTE aux PRM représentants les compteurs linky.]]></a:t>
            </a:r>
          </a:p>
        </p:txBody>
      </p:sp>
      <p:sp>
        <p:nvSpPr>
          <p:cNvPr id="4" name="" descr=""/>
          <p:cNvSpPr/>
          <p:nvPr/>
        </p:nvSpPr>
        <p:spPr>
          <a:xfrm>
            <a:off x="381000" y="1333500"/>
            <a:ext cx="952500" cy="304800"/>
          </a:xfrm>
          <a:prstGeom prst="roundRect">
            <a:avLst/>
          </a:prstGeom>
          <a:solidFill>
            <a:srgbClr val="33989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/>
          <p:cNvSpPr txBox="1"/>
          <p:nvPr/>
        </p:nvSpPr>
        <p:spPr>
          <a:xfrm>
            <a:off x="381000" y="1333500"/>
            <a:ext cx="952500" cy="304800"/>
          </a:xfrm>
          <a:prstGeom prst="rect">
            <a:avLst/>
          </a:prstGeom>
          <a:noFill/>
        </p:spPr>
        <p:txBody>
          <a:bodyPr anchor="ctr" anchorCtr="0" rtlCol="0" vert="horz" bIns="45720" lIns="91440" rIns="91440" tIns="45720">
            <a:spAutoFit/>
          </a:bodyPr>
          <a:lstStyle/>
          <a:p>
            <a:pPr algn="ctr" rtl="0" fontAlgn="ctr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200" spc="0" u="none" cap="none">
                <a:solidFill>
                  <a:srgbClr val="FFFFFF">
                    <a:alpha val="100000"/>
                  </a:srgbClr>
                </a:solidFill>
                <a:latin typeface="Public Sans Light"/>
              </a:rPr>
              <a:t><![CDATA[Nouveau]]></a:t>
            </a:r>
          </a:p>
        </p:txBody>
      </p:sp>
      <p:sp>
        <p:nvSpPr>
          <p:cNvPr id="6" name="" descr=""/>
          <p:cNvSpPr/>
          <p:nvPr/>
        </p:nvSpPr>
        <p:spPr>
          <a:xfrm>
            <a:off x="381000" y="1762125"/>
            <a:ext cx="952500" cy="304800"/>
          </a:xfrm>
          <a:prstGeom prst="roundRect">
            <a:avLst/>
          </a:prstGeom>
          <a:solidFill>
            <a:srgbClr val="8E44AD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/>
          <p:cNvSpPr txBox="1"/>
          <p:nvPr/>
        </p:nvSpPr>
        <p:spPr>
          <a:xfrm>
            <a:off x="381000" y="1762125"/>
            <a:ext cx="952500" cy="304800"/>
          </a:xfrm>
          <a:prstGeom prst="rect">
            <a:avLst/>
          </a:prstGeom>
          <a:noFill/>
        </p:spPr>
        <p:txBody>
          <a:bodyPr anchor="ctr" anchorCtr="0" rtlCol="0" vert="horz" bIns="45720" lIns="91440" rIns="91440" tIns="45720">
            <a:spAutoFit/>
          </a:bodyPr>
          <a:lstStyle/>
          <a:p>
            <a:pPr algn="ctr" rtl="0" fontAlgn="ctr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200" spc="0" u="none" cap="none">
                <a:solidFill>
                  <a:srgbClr val="FFFFFF">
                    <a:alpha val="100000"/>
                  </a:srgbClr>
                </a:solidFill>
                <a:latin typeface="Public Sans Light"/>
              </a:rPr>
              <a:t><![CDATA[Recette]]></a:t>
            </a:r>
          </a:p>
        </p:txBody>
      </p:sp>
      <p:sp>
        <p:nvSpPr>
          <p:cNvPr id="8" name="" descr=""/>
          <p:cNvSpPr/>
          <p:nvPr/>
        </p:nvSpPr>
        <p:spPr>
          <a:xfrm>
            <a:off x="381000" y="2286000"/>
            <a:ext cx="952500" cy="304800"/>
          </a:xfrm>
          <a:prstGeom prst="roundRect">
            <a:avLst/>
          </a:prstGeom>
          <a:solidFill>
            <a:srgbClr val="7F8C8D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9" name=""/>
          <p:cNvSpPr txBox="1"/>
          <p:nvPr/>
        </p:nvSpPr>
        <p:spPr>
          <a:xfrm>
            <a:off x="381000" y="2286000"/>
            <a:ext cx="952500" cy="304800"/>
          </a:xfrm>
          <a:prstGeom prst="rect">
            <a:avLst/>
          </a:prstGeom>
          <a:noFill/>
        </p:spPr>
        <p:txBody>
          <a:bodyPr anchor="ctr" anchorCtr="0" rtlCol="0" vert="horz" bIns="45720" lIns="91440" rIns="91440" tIns="45720">
            <a:spAutoFit/>
          </a:bodyPr>
          <a:lstStyle/>
          <a:p>
            <a:pPr algn="ctr" rtl="0" fontAlgn="ctr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200" spc="0" u="none" cap="none">
                <a:solidFill>
                  <a:srgbClr val="FFFFFF">
                    <a:alpha val="100000"/>
                  </a:srgbClr>
                </a:solidFill>
                <a:latin typeface="Public Sans Light"/>
              </a:rPr>
              <a:t><![CDATA[N/C]]></a:t>
            </a:r>
          </a:p>
        </p:txBody>
      </p:sp>
      <p:sp>
        <p:nvSpPr>
          <p:cNvPr id="10" name=""/>
          <p:cNvSpPr txBox="1"/>
          <p:nvPr/>
        </p:nvSpPr>
        <p:spPr>
          <a:xfrm>
            <a:off x="1905000" y="1333500"/>
            <a:ext cx="6667500" cy="8572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i="1" strike="noStrike" sz="1400" spc="0" u="none" cap="none">
                <a:solidFill>
                  <a:srgbClr val="7F8C8D">
                    <a:alpha val="100000"/>
                  </a:srgbClr>
                </a:solidFill>
                <a:latin typeface="Public Sans Light"/>
              </a:rPr>
              <a:t><![CDATA[Objectif non renseigné dans le ticket]]></a:t>
            </a:r>
          </a:p>
        </p:txBody>
      </p:sp>
      <p:sp>
        <p:nvSpPr>
          <p:cNvPr id="11" name=""/>
          <p:cNvSpPr txBox="1"/>
          <p:nvPr/>
        </p:nvSpPr>
        <p:spPr>
          <a:xfrm>
            <a:off x="1905000" y="2238375"/>
            <a:ext cx="6667500" cy="285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300" spc="0" u="none" cap="none">
                <a:solidFill>
                  <a:srgbClr val="000000">
                    <a:alpha val="100000"/>
                  </a:srgbClr>
                </a:solidFill>
                <a:latin typeface="Public Sans Light"/>
              </a:rPr>
              <a:t><![CDATA[Consommateurs : Non spécifié]]></a:t>
            </a:r>
          </a:p>
        </p:txBody>
      </p:sp>
      <p:sp>
        <p:nvSpPr>
          <p:cNvPr id="12" name=""/>
          <p:cNvSpPr txBox="1"/>
          <p:nvPr/>
        </p:nvSpPr>
        <p:spPr>
          <a:xfrm>
            <a:off x="1905000" y="2571750"/>
            <a:ext cx="6667500" cy="285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300" spc="0" u="none" cap="none">
                <a:solidFill>
                  <a:srgbClr val="000000">
                    <a:alpha val="100000"/>
                  </a:srgbClr>
                </a:solidFill>
                <a:latin typeface="Public Sans Light"/>
              </a:rPr>
              <a:t><![CDATA[OM :  ]]></a:t>
            </a:r>
          </a:p>
        </p:txBody>
      </p:sp>
      <p:sp>
        <p:nvSpPr>
          <p:cNvPr id="13" name="" descr=""/>
          <p:cNvSpPr/>
          <p:nvPr/>
        </p:nvSpPr>
        <p:spPr>
          <a:xfrm>
            <a:off x="381000" y="3000375"/>
            <a:ext cx="8572500" cy="714375"/>
          </a:xfrm>
          <a:prstGeom prst="roundRect">
            <a:avLst/>
          </a:prstGeom>
          <a:solidFill>
            <a:srgbClr val="FFE6F2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4" name=""/>
          <p:cNvSpPr txBox="1"/>
          <p:nvPr/>
        </p:nvSpPr>
        <p:spPr>
          <a:xfrm>
            <a:off x="523875" y="3209925"/>
            <a:ext cx="8286750" cy="4762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000000">
                    <a:alpha val="100000"/>
                  </a:srgbClr>
                </a:solidFill>
                <a:latin typeface="Consolas"/>
              </a:rPr>
              <a:t><![CDATA[/projects/PRD/HAS/DLK/trusted-zone/HDR/FRA/COUPURE_TRONCON_BT]]></a:t>
            </a:r>
          </a:p>
        </p:txBody>
      </p:sp>
      <p:sp>
        <p:nvSpPr>
          <p:cNvPr id="15" name="" descr=""/>
          <p:cNvSpPr/>
          <p:nvPr/>
        </p:nvSpPr>
        <p:spPr>
          <a:xfrm>
            <a:off x="619125" y="2905125"/>
            <a:ext cx="714375" cy="209550"/>
          </a:xfrm>
          <a:prstGeom prst="round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6" name=""/>
          <p:cNvSpPr txBox="1"/>
          <p:nvPr/>
        </p:nvSpPr>
        <p:spPr>
          <a:xfrm>
            <a:off x="619125" y="2905125"/>
            <a:ext cx="714375" cy="209550"/>
          </a:xfrm>
          <a:prstGeom prst="rect">
            <a:avLst/>
          </a:prstGeom>
          <a:noFill/>
        </p:spPr>
        <p:txBody>
          <a:bodyPr anchor="ctr" anchorCtr="0" rtlCol="0" vert="horz" bIns="45720" lIns="91440" rIns="91440" tIns="45720">
            <a:spAutoFit/>
          </a:bodyPr>
          <a:lstStyle/>
          <a:p>
            <a:pPr algn="ctr" rtl="0" fontAlgn="ctr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100" spc="0" u="none" cap="none">
                <a:solidFill>
                  <a:srgbClr val="000000">
                    <a:alpha val="100000"/>
                  </a:srgbClr>
                </a:solidFill>
                <a:latin typeface="Enedis"/>
              </a:rPr>
              <a:t><![CDATA[PATH]]></a:t>
            </a:r>
          </a:p>
        </p:txBody>
      </p:sp>
      <p:sp>
        <p:nvSpPr>
          <p:cNvPr id="17" name="" descr=""/>
          <p:cNvSpPr/>
          <p:nvPr/>
        </p:nvSpPr>
        <p:spPr>
          <a:xfrm>
            <a:off x="381000" y="3905250"/>
            <a:ext cx="8572500" cy="714375"/>
          </a:xfrm>
          <a:prstGeom prst="roundRect">
            <a:avLst/>
          </a:prstGeom>
          <a:solidFill>
            <a:srgbClr val="F0E6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8" name=""/>
          <p:cNvSpPr txBox="1"/>
          <p:nvPr/>
        </p:nvSpPr>
        <p:spPr>
          <a:xfrm>
            <a:off x="523875" y="4114800"/>
            <a:ext cx="8286750" cy="4762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000000">
                    <a:alpha val="100000"/>
                  </a:srgbClr>
                </a:solidFill>
                <a:latin typeface="Consolas"/>
              </a:rPr>
              <a:t><![CDATA[hdr_coupures_troncon_bt_fra]]></a:t>
            </a:r>
          </a:p>
        </p:txBody>
      </p:sp>
      <p:sp>
        <p:nvSpPr>
          <p:cNvPr id="19" name="" descr=""/>
          <p:cNvSpPr/>
          <p:nvPr/>
        </p:nvSpPr>
        <p:spPr>
          <a:xfrm>
            <a:off x="619125" y="3810000"/>
            <a:ext cx="714375" cy="209550"/>
          </a:xfrm>
          <a:prstGeom prst="round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20" name=""/>
          <p:cNvSpPr txBox="1"/>
          <p:nvPr/>
        </p:nvSpPr>
        <p:spPr>
          <a:xfrm>
            <a:off x="619125" y="3810000"/>
            <a:ext cx="714375" cy="209550"/>
          </a:xfrm>
          <a:prstGeom prst="rect">
            <a:avLst/>
          </a:prstGeom>
          <a:noFill/>
        </p:spPr>
        <p:txBody>
          <a:bodyPr anchor="ctr" anchorCtr="0" rtlCol="0" vert="horz" bIns="45720" lIns="91440" rIns="91440" tIns="45720">
            <a:spAutoFit/>
          </a:bodyPr>
          <a:lstStyle/>
          <a:p>
            <a:pPr algn="ctr" rtl="0" fontAlgn="ctr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100" spc="0" u="none" cap="none">
                <a:solidFill>
                  <a:srgbClr val="000000">
                    <a:alpha val="100000"/>
                  </a:srgbClr>
                </a:solidFill>
                <a:latin typeface="Enedis"/>
              </a:rPr>
              <a:t><![CDATA[HIVE]]></a:t>
            </a:r>
          </a:p>
        </p:txBody>
      </p:sp>
      <p:sp>
        <p:nvSpPr>
          <p:cNvPr id="21" name=""/>
          <p:cNvSpPr txBox="1"/>
          <p:nvPr/>
        </p:nvSpPr>
        <p:spPr>
          <a:xfrm>
            <a:off x="381000" y="4810125"/>
            <a:ext cx="2857500" cy="190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100" spc="0" u="none" cap="none">
                <a:solidFill>
                  <a:srgbClr val="1423DC">
                    <a:alpha val="100000"/>
                  </a:srgbClr>
                </a:solidFill>
                <a:latin typeface="Enedis"/>
              </a:rPr>
              <a:t><![CDATA[ENEDIS]]></a:t>
            </a:r>
          </a:p>
        </p:txBody>
      </p:sp>
      <p:sp>
        <p:nvSpPr>
          <p:cNvPr id="22" name=""/>
          <p:cNvSpPr txBox="1"/>
          <p:nvPr/>
        </p:nvSpPr>
        <p:spPr>
          <a:xfrm>
            <a:off x="4191000" y="4810125"/>
            <a:ext cx="4572000" cy="190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100" spc="0" u="none" cap="none">
                <a:solidFill>
                  <a:srgbClr val="595959">
                    <a:alpha val="100000"/>
                  </a:srgbClr>
                </a:solidFill>
                <a:latin typeface="Public Sans Light"/>
              </a:rPr>
              <a:t><![CDATA[B4A-39445  ·  Arij (Dev)]]>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381000" y="285750"/>
          <a:ext cx="8953500" cy="5000625"/>
          <a:chOff x="381000" y="285750"/>
          <a:chExt cx="8953500" cy="5000625"/>
        </a:xfrm>
      </p:grpSpPr>
      <p:sp>
        <p:nvSpPr>
          <p:cNvPr id="2" name=""/>
          <p:cNvSpPr txBox="1"/>
          <p:nvPr/>
        </p:nvSpPr>
        <p:spPr>
          <a:xfrm>
            <a:off x="381000" y="285750"/>
            <a:ext cx="8572500" cy="381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400" spc="0" u="none" cap="none">
                <a:solidFill>
                  <a:srgbClr val="1423DC">
                    <a:alpha val="100000"/>
                  </a:srgbClr>
                </a:solidFill>
                <a:latin typeface="Enedis"/>
              </a:rPr>
              <a:t><![CDATA[ECAMPUS – Ajout d'un champ dans 3 OM]]></a:t>
            </a:r>
          </a:p>
        </p:txBody>
      </p:sp>
      <p:sp>
        <p:nvSpPr>
          <p:cNvPr id="3" name="" descr=""/>
          <p:cNvSpPr/>
          <p:nvPr/>
        </p:nvSpPr>
        <p:spPr>
          <a:xfrm>
            <a:off x="381000" y="1333500"/>
            <a:ext cx="952500" cy="304800"/>
          </a:xfrm>
          <a:prstGeom prst="roundRect">
            <a:avLst/>
          </a:prstGeom>
          <a:solidFill>
            <a:srgbClr val="1ABC9C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/>
          <p:cNvSpPr txBox="1"/>
          <p:nvPr/>
        </p:nvSpPr>
        <p:spPr>
          <a:xfrm>
            <a:off x="381000" y="1333500"/>
            <a:ext cx="952500" cy="304800"/>
          </a:xfrm>
          <a:prstGeom prst="rect">
            <a:avLst/>
          </a:prstGeom>
          <a:noFill/>
        </p:spPr>
        <p:txBody>
          <a:bodyPr anchor="ctr" anchorCtr="0" rtlCol="0" vert="horz" bIns="45720" lIns="91440" rIns="91440" tIns="45720">
            <a:spAutoFit/>
          </a:bodyPr>
          <a:lstStyle/>
          <a:p>
            <a:pPr algn="ctr" rtl="0" fontAlgn="ctr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200" spc="0" u="none" cap="none">
                <a:solidFill>
                  <a:srgbClr val="FFFFFF">
                    <a:alpha val="100000"/>
                  </a:srgbClr>
                </a:solidFill>
                <a:latin typeface="Public Sans Light"/>
              </a:rPr>
              <a:t><![CDATA[Evolution]]></a:t>
            </a:r>
          </a:p>
        </p:txBody>
      </p:sp>
      <p:sp>
        <p:nvSpPr>
          <p:cNvPr id="5" name="" descr=""/>
          <p:cNvSpPr/>
          <p:nvPr/>
        </p:nvSpPr>
        <p:spPr>
          <a:xfrm>
            <a:off x="381000" y="1762125"/>
            <a:ext cx="952500" cy="304800"/>
          </a:xfrm>
          <a:prstGeom prst="roundRect">
            <a:avLst/>
          </a:prstGeom>
          <a:solidFill>
            <a:srgbClr val="8E44AD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/>
          <p:cNvSpPr txBox="1"/>
          <p:nvPr/>
        </p:nvSpPr>
        <p:spPr>
          <a:xfrm>
            <a:off x="381000" y="1762125"/>
            <a:ext cx="952500" cy="304800"/>
          </a:xfrm>
          <a:prstGeom prst="rect">
            <a:avLst/>
          </a:prstGeom>
          <a:noFill/>
        </p:spPr>
        <p:txBody>
          <a:bodyPr anchor="ctr" anchorCtr="0" rtlCol="0" vert="horz" bIns="45720" lIns="91440" rIns="91440" tIns="45720">
            <a:spAutoFit/>
          </a:bodyPr>
          <a:lstStyle/>
          <a:p>
            <a:pPr algn="ctr" rtl="0" fontAlgn="ctr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200" spc="0" u="none" cap="none">
                <a:solidFill>
                  <a:srgbClr val="FFFFFF">
                    <a:alpha val="100000"/>
                  </a:srgbClr>
                </a:solidFill>
                <a:latin typeface="Public Sans Light"/>
              </a:rPr>
              <a:t><![CDATA[Recette]]></a:t>
            </a:r>
          </a:p>
        </p:txBody>
      </p:sp>
      <p:sp>
        <p:nvSpPr>
          <p:cNvPr id="7" name="" descr=""/>
          <p:cNvSpPr/>
          <p:nvPr/>
        </p:nvSpPr>
        <p:spPr>
          <a:xfrm>
            <a:off x="381000" y="2286000"/>
            <a:ext cx="952500" cy="304800"/>
          </a:xfrm>
          <a:prstGeom prst="roundRect">
            <a:avLst/>
          </a:prstGeom>
          <a:solidFill>
            <a:srgbClr val="E67E22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8" name=""/>
          <p:cNvSpPr txBox="1"/>
          <p:nvPr/>
        </p:nvSpPr>
        <p:spPr>
          <a:xfrm>
            <a:off x="381000" y="2286000"/>
            <a:ext cx="952500" cy="304800"/>
          </a:xfrm>
          <a:prstGeom prst="rect">
            <a:avLst/>
          </a:prstGeom>
          <a:noFill/>
        </p:spPr>
        <p:txBody>
          <a:bodyPr anchor="ctr" anchorCtr="0" rtlCol="0" vert="horz" bIns="45720" lIns="91440" rIns="91440" tIns="45720">
            <a:spAutoFit/>
          </a:bodyPr>
          <a:lstStyle/>
          <a:p>
            <a:pPr algn="ctr" rtl="0" fontAlgn="ctr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200" spc="0" u="none" cap="none">
                <a:solidFill>
                  <a:srgbClr val="FFFFFF">
                    <a:alpha val="100000"/>
                  </a:srgbClr>
                </a:solidFill>
                <a:latin typeface="Public Sans Light"/>
              </a:rPr>
              <a:t><![CDATA[FILE]]></a:t>
            </a:r>
          </a:p>
        </p:txBody>
      </p:sp>
      <p:sp>
        <p:nvSpPr>
          <p:cNvPr id="9" name=""/>
          <p:cNvSpPr txBox="1"/>
          <p:nvPr/>
        </p:nvSpPr>
        <p:spPr>
          <a:xfrm>
            <a:off x="1905000" y="1333500"/>
            <a:ext cx="6667500" cy="8572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i="1" strike="noStrike" sz="1400" spc="0" u="none" cap="none">
                <a:solidFill>
                  <a:srgbClr val="7F8C8D">
                    <a:alpha val="100000"/>
                  </a:srgbClr>
                </a:solidFill>
                <a:latin typeface="Public Sans Light"/>
              </a:rPr>
              <a:t><![CDATA[Objectif non renseigné dans le ticket]]></a:t>
            </a:r>
          </a:p>
        </p:txBody>
      </p:sp>
      <p:sp>
        <p:nvSpPr>
          <p:cNvPr id="10" name=""/>
          <p:cNvSpPr txBox="1"/>
          <p:nvPr/>
        </p:nvSpPr>
        <p:spPr>
          <a:xfrm>
            <a:off x="1905000" y="2238375"/>
            <a:ext cx="6667500" cy="285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300" spc="0" u="none" cap="none">
                <a:solidFill>
                  <a:srgbClr val="000000">
                    <a:alpha val="100000"/>
                  </a:srgbClr>
                </a:solidFill>
                <a:latin typeface="Public Sans Light"/>
              </a:rPr>
              <a:t><![CDATA[Consommateurs : Non spécifié]]></a:t>
            </a:r>
          </a:p>
        </p:txBody>
      </p:sp>
      <p:sp>
        <p:nvSpPr>
          <p:cNvPr id="11" name=""/>
          <p:cNvSpPr txBox="1"/>
          <p:nvPr/>
        </p:nvSpPr>
        <p:spPr>
          <a:xfrm>
            <a:off x="1905000" y="2571750"/>
            <a:ext cx="6667500" cy="285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300" spc="0" u="none" cap="none">
                <a:solidFill>
                  <a:srgbClr val="000000">
                    <a:alpha val="100000"/>
                  </a:srgbClr>
                </a:solidFill>
                <a:latin typeface="Public Sans Light"/>
              </a:rPr>
              <a:t><![CDATA[OM :  ]]></a:t>
            </a:r>
          </a:p>
        </p:txBody>
      </p:sp>
      <p:sp>
        <p:nvSpPr>
          <p:cNvPr id="12" name="" descr=""/>
          <p:cNvSpPr/>
          <p:nvPr/>
        </p:nvSpPr>
        <p:spPr>
          <a:xfrm>
            <a:off x="381000" y="3000375"/>
            <a:ext cx="8572500" cy="714375"/>
          </a:xfrm>
          <a:prstGeom prst="roundRect">
            <a:avLst/>
          </a:prstGeom>
          <a:solidFill>
            <a:srgbClr val="FFE6F2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3" name=""/>
          <p:cNvSpPr txBox="1"/>
          <p:nvPr/>
        </p:nvSpPr>
        <p:spPr>
          <a:xfrm>
            <a:off x="523875" y="3209925"/>
            <a:ext cx="8286750" cy="4762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000000">
                    <a:alpha val="100000"/>
                  </a:srgbClr>
                </a:solidFill>
                <a:latin typeface="Consolas"/>
              </a:rPr>
              <a:t><![CDATA[/projects/PRD/HAS/DLK/trusted-zone/ECAMPUS/FRA/UTILISATEURS_EDF    ]]></a:t>
            </a:r>
            <a:br/>
            <a:r>
              <a:rPr lang="en-US" strike="noStrike" sz="1200" spc="0" u="none" cap="none">
                <a:solidFill>
                  <a:srgbClr val="000000">
                    <a:alpha val="100000"/>
                  </a:srgbClr>
                </a:solidFill>
                <a:latin typeface="Consolas"/>
              </a:rPr>
              <a:t><![CDATA[/projects/PRD/HAS/DLK/trusted-zone/ECAMPUS/FRA/UTILISATEURS_ENEDIS]]></a:t>
            </a:r>
            <a:br/>
            <a:r>
              <a:rPr lang="en-US" strike="noStrike" sz="1200" spc="0" u="none" cap="none">
                <a:solidFill>
                  <a:srgbClr val="000000">
                    <a:alpha val="100000"/>
                  </a:srgbClr>
                </a:solidFill>
                <a:latin typeface="Consolas"/>
              </a:rPr>
              <a:t><![CDATA[/projects/PRD/HAS/DLK/trusted-zone/ECAMPUS/FRA/UTILISATEURS_FP  ]]></a:t>
            </a:r>
          </a:p>
        </p:txBody>
      </p:sp>
      <p:sp>
        <p:nvSpPr>
          <p:cNvPr id="14" name="" descr=""/>
          <p:cNvSpPr/>
          <p:nvPr/>
        </p:nvSpPr>
        <p:spPr>
          <a:xfrm>
            <a:off x="619125" y="2905125"/>
            <a:ext cx="714375" cy="209550"/>
          </a:xfrm>
          <a:prstGeom prst="round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5" name=""/>
          <p:cNvSpPr txBox="1"/>
          <p:nvPr/>
        </p:nvSpPr>
        <p:spPr>
          <a:xfrm>
            <a:off x="619125" y="2905125"/>
            <a:ext cx="714375" cy="209550"/>
          </a:xfrm>
          <a:prstGeom prst="rect">
            <a:avLst/>
          </a:prstGeom>
          <a:noFill/>
        </p:spPr>
        <p:txBody>
          <a:bodyPr anchor="ctr" anchorCtr="0" rtlCol="0" vert="horz" bIns="45720" lIns="91440" rIns="91440" tIns="45720">
            <a:spAutoFit/>
          </a:bodyPr>
          <a:lstStyle/>
          <a:p>
            <a:pPr algn="ctr" rtl="0" fontAlgn="ctr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100" spc="0" u="none" cap="none">
                <a:solidFill>
                  <a:srgbClr val="000000">
                    <a:alpha val="100000"/>
                  </a:srgbClr>
                </a:solidFill>
                <a:latin typeface="Enedis"/>
              </a:rPr>
              <a:t><![CDATA[PATH]]></a:t>
            </a:r>
          </a:p>
        </p:txBody>
      </p:sp>
      <p:sp>
        <p:nvSpPr>
          <p:cNvPr id="16" name="" descr=""/>
          <p:cNvSpPr/>
          <p:nvPr/>
        </p:nvSpPr>
        <p:spPr>
          <a:xfrm>
            <a:off x="381000" y="3905250"/>
            <a:ext cx="8572500" cy="714375"/>
          </a:xfrm>
          <a:prstGeom prst="roundRect">
            <a:avLst/>
          </a:prstGeom>
          <a:solidFill>
            <a:srgbClr val="F0E6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7" name=""/>
          <p:cNvSpPr txBox="1"/>
          <p:nvPr/>
        </p:nvSpPr>
        <p:spPr>
          <a:xfrm>
            <a:off x="523875" y="4114800"/>
            <a:ext cx="8286750" cy="4762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000000">
                    <a:alpha val="100000"/>
                  </a:srgbClr>
                </a:solidFill>
                <a:latin typeface="Consolas"/>
              </a:rPr>
              <a:t><![CDATA[ ecampus_utilisateurs_edf_fra                       ]]></a:t>
            </a:r>
            <a:br/>
            <a:r>
              <a:rPr lang="en-US" strike="noStrike" sz="1200" spc="0" u="none" cap="none">
                <a:solidFill>
                  <a:srgbClr val="000000">
                    <a:alpha val="100000"/>
                  </a:srgbClr>
                </a:solidFill>
                <a:latin typeface="Consolas"/>
              </a:rPr>
              <a:t><![CDATA[ecampus_utilisateurs_enedis_fra                    ]]></a:t>
            </a:r>
            <a:br/>
            <a:r>
              <a:rPr lang="en-US" strike="noStrike" sz="1200" spc="0" u="none" cap="none">
                <a:solidFill>
                  <a:srgbClr val="000000">
                    <a:alpha val="100000"/>
                  </a:srgbClr>
                </a:solidFill>
                <a:latin typeface="Consolas"/>
              </a:rPr>
              <a:t><![CDATA[ecampus_utilisateurs_fp_fra]]></a:t>
            </a:r>
          </a:p>
        </p:txBody>
      </p:sp>
      <p:sp>
        <p:nvSpPr>
          <p:cNvPr id="18" name="" descr=""/>
          <p:cNvSpPr/>
          <p:nvPr/>
        </p:nvSpPr>
        <p:spPr>
          <a:xfrm>
            <a:off x="619125" y="3810000"/>
            <a:ext cx="714375" cy="209550"/>
          </a:xfrm>
          <a:prstGeom prst="round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9" name=""/>
          <p:cNvSpPr txBox="1"/>
          <p:nvPr/>
        </p:nvSpPr>
        <p:spPr>
          <a:xfrm>
            <a:off x="619125" y="3810000"/>
            <a:ext cx="714375" cy="209550"/>
          </a:xfrm>
          <a:prstGeom prst="rect">
            <a:avLst/>
          </a:prstGeom>
          <a:noFill/>
        </p:spPr>
        <p:txBody>
          <a:bodyPr anchor="ctr" anchorCtr="0" rtlCol="0" vert="horz" bIns="45720" lIns="91440" rIns="91440" tIns="45720">
            <a:spAutoFit/>
          </a:bodyPr>
          <a:lstStyle/>
          <a:p>
            <a:pPr algn="ctr" rtl="0" fontAlgn="ctr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100" spc="0" u="none" cap="none">
                <a:solidFill>
                  <a:srgbClr val="000000">
                    <a:alpha val="100000"/>
                  </a:srgbClr>
                </a:solidFill>
                <a:latin typeface="Enedis"/>
              </a:rPr>
              <a:t><![CDATA[HIVE]]></a:t>
            </a:r>
          </a:p>
        </p:txBody>
      </p:sp>
      <p:sp>
        <p:nvSpPr>
          <p:cNvPr id="20" name=""/>
          <p:cNvSpPr txBox="1"/>
          <p:nvPr/>
        </p:nvSpPr>
        <p:spPr>
          <a:xfrm>
            <a:off x="381000" y="4810125"/>
            <a:ext cx="2857500" cy="190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100" spc="0" u="none" cap="none">
                <a:solidFill>
                  <a:srgbClr val="1423DC">
                    <a:alpha val="100000"/>
                  </a:srgbClr>
                </a:solidFill>
                <a:latin typeface="Enedis"/>
              </a:rPr>
              <a:t><![CDATA[ENEDIS]]></a:t>
            </a:r>
          </a:p>
        </p:txBody>
      </p:sp>
      <p:sp>
        <p:nvSpPr>
          <p:cNvPr id="21" name=""/>
          <p:cNvSpPr txBox="1"/>
          <p:nvPr/>
        </p:nvSpPr>
        <p:spPr>
          <a:xfrm>
            <a:off x="4191000" y="4810125"/>
            <a:ext cx="4572000" cy="190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100" spc="0" u="none" cap="none">
                <a:solidFill>
                  <a:srgbClr val="595959">
                    <a:alpha val="100000"/>
                  </a:srgbClr>
                </a:solidFill>
                <a:latin typeface="Public Sans Light"/>
              </a:rPr>
              <a:t><![CDATA[B4A-39442  ·  Kenza (Dev)  ·  déduit de l'historique]]>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381000" y="285750"/>
          <a:ext cx="8953500" cy="5000625"/>
          <a:chOff x="381000" y="285750"/>
          <a:chExt cx="8953500" cy="5000625"/>
        </a:xfrm>
      </p:grpSpPr>
      <p:sp>
        <p:nvSpPr>
          <p:cNvPr id="2" name=""/>
          <p:cNvSpPr txBox="1"/>
          <p:nvPr/>
        </p:nvSpPr>
        <p:spPr>
          <a:xfrm>
            <a:off x="381000" y="285750"/>
            <a:ext cx="8572500" cy="381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400" spc="0" u="none" cap="none">
                <a:solidFill>
                  <a:srgbClr val="1423DC">
                    <a:alpha val="100000"/>
                  </a:srgbClr>
                </a:solidFill>
                <a:latin typeface="Enedis"/>
              </a:rPr>
              <a:t><![CDATA[HDR – Evénements dynamiques enrichis]]></a:t>
            </a:r>
          </a:p>
        </p:txBody>
      </p:sp>
      <p:sp>
        <p:nvSpPr>
          <p:cNvPr id="3" name=""/>
          <p:cNvSpPr txBox="1"/>
          <p:nvPr/>
        </p:nvSpPr>
        <p:spPr>
          <a:xfrm>
            <a:off x="381000" y="714375"/>
            <a:ext cx="8572500" cy="4762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595959">
                    <a:alpha val="100000"/>
                  </a:srgbClr>
                </a:solidFill>
                <a:latin typeface="Public Sans Light"/>
              </a:rPr>
              <a:t><![CDATA[HDR est un SI dont le cœur de métier est de connaitre l’intégralité de la topologie réseau détenu par ENEDIS. De l’aval connecté à RTE aux PRM représentants les compteurs linky.]]></a:t>
            </a:r>
          </a:p>
        </p:txBody>
      </p:sp>
      <p:sp>
        <p:nvSpPr>
          <p:cNvPr id="4" name="" descr=""/>
          <p:cNvSpPr/>
          <p:nvPr/>
        </p:nvSpPr>
        <p:spPr>
          <a:xfrm>
            <a:off x="381000" y="1333500"/>
            <a:ext cx="952500" cy="304800"/>
          </a:xfrm>
          <a:prstGeom prst="roundRect">
            <a:avLst/>
          </a:prstGeom>
          <a:solidFill>
            <a:srgbClr val="1ABC9C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/>
          <p:cNvSpPr txBox="1"/>
          <p:nvPr/>
        </p:nvSpPr>
        <p:spPr>
          <a:xfrm>
            <a:off x="381000" y="1333500"/>
            <a:ext cx="952500" cy="304800"/>
          </a:xfrm>
          <a:prstGeom prst="rect">
            <a:avLst/>
          </a:prstGeom>
          <a:noFill/>
        </p:spPr>
        <p:txBody>
          <a:bodyPr anchor="ctr" anchorCtr="0" rtlCol="0" vert="horz" bIns="45720" lIns="91440" rIns="91440" tIns="45720">
            <a:spAutoFit/>
          </a:bodyPr>
          <a:lstStyle/>
          <a:p>
            <a:pPr algn="ctr" rtl="0" fontAlgn="ctr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200" spc="0" u="none" cap="none">
                <a:solidFill>
                  <a:srgbClr val="FFFFFF">
                    <a:alpha val="100000"/>
                  </a:srgbClr>
                </a:solidFill>
                <a:latin typeface="Public Sans Light"/>
              </a:rPr>
              <a:t><![CDATA[Evolution]]></a:t>
            </a:r>
          </a:p>
        </p:txBody>
      </p:sp>
      <p:sp>
        <p:nvSpPr>
          <p:cNvPr id="6" name="" descr=""/>
          <p:cNvSpPr/>
          <p:nvPr/>
        </p:nvSpPr>
        <p:spPr>
          <a:xfrm>
            <a:off x="381000" y="1762125"/>
            <a:ext cx="952500" cy="304800"/>
          </a:xfrm>
          <a:prstGeom prst="roundRect">
            <a:avLst/>
          </a:prstGeom>
          <a:solidFill>
            <a:srgbClr val="8E44AD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/>
          <p:cNvSpPr txBox="1"/>
          <p:nvPr/>
        </p:nvSpPr>
        <p:spPr>
          <a:xfrm>
            <a:off x="381000" y="1762125"/>
            <a:ext cx="952500" cy="304800"/>
          </a:xfrm>
          <a:prstGeom prst="rect">
            <a:avLst/>
          </a:prstGeom>
          <a:noFill/>
        </p:spPr>
        <p:txBody>
          <a:bodyPr anchor="ctr" anchorCtr="0" rtlCol="0" vert="horz" bIns="45720" lIns="91440" rIns="91440" tIns="45720">
            <a:spAutoFit/>
          </a:bodyPr>
          <a:lstStyle/>
          <a:p>
            <a:pPr algn="ctr" rtl="0" fontAlgn="ctr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200" spc="0" u="none" cap="none">
                <a:solidFill>
                  <a:srgbClr val="FFFFFF">
                    <a:alpha val="100000"/>
                  </a:srgbClr>
                </a:solidFill>
                <a:latin typeface="Public Sans Light"/>
              </a:rPr>
              <a:t><![CDATA[Recette]]></a:t>
            </a:r>
          </a:p>
        </p:txBody>
      </p:sp>
      <p:sp>
        <p:nvSpPr>
          <p:cNvPr id="8" name="" descr=""/>
          <p:cNvSpPr/>
          <p:nvPr/>
        </p:nvSpPr>
        <p:spPr>
          <a:xfrm>
            <a:off x="381000" y="2286000"/>
            <a:ext cx="952500" cy="304800"/>
          </a:xfrm>
          <a:prstGeom prst="roundRect">
            <a:avLst/>
          </a:prstGeom>
          <a:solidFill>
            <a:srgbClr val="8E44AD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9" name=""/>
          <p:cNvSpPr txBox="1"/>
          <p:nvPr/>
        </p:nvSpPr>
        <p:spPr>
          <a:xfrm>
            <a:off x="381000" y="2286000"/>
            <a:ext cx="952500" cy="304800"/>
          </a:xfrm>
          <a:prstGeom prst="rect">
            <a:avLst/>
          </a:prstGeom>
          <a:noFill/>
        </p:spPr>
        <p:txBody>
          <a:bodyPr anchor="ctr" anchorCtr="0" rtlCol="0" vert="horz" bIns="45720" lIns="91440" rIns="91440" tIns="45720">
            <a:spAutoFit/>
          </a:bodyPr>
          <a:lstStyle/>
          <a:p>
            <a:pPr algn="ctr" rtl="0" fontAlgn="ctr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200" spc="0" u="none" cap="none">
                <a:solidFill>
                  <a:srgbClr val="FFFFFF">
                    <a:alpha val="100000"/>
                  </a:srgbClr>
                </a:solidFill>
                <a:latin typeface="Public Sans Light"/>
              </a:rPr>
              <a:t><![CDATA[KAFKA]]></a:t>
            </a:r>
          </a:p>
        </p:txBody>
      </p:sp>
      <p:sp>
        <p:nvSpPr>
          <p:cNvPr id="10" name=""/>
          <p:cNvSpPr txBox="1"/>
          <p:nvPr/>
        </p:nvSpPr>
        <p:spPr>
          <a:xfrm>
            <a:off x="1905000" y="1333500"/>
            <a:ext cx="6667500" cy="8572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400" spc="0" u="none" cap="none">
                <a:solidFill>
                  <a:srgbClr val="000000">
                    <a:alpha val="100000"/>
                  </a:srgbClr>
                </a:solidFill>
                <a:latin typeface="Public Sans Light"/>
              </a:rPr>
              <a:t><![CDATA[Kafka]]></a:t>
            </a:r>
          </a:p>
        </p:txBody>
      </p:sp>
      <p:sp>
        <p:nvSpPr>
          <p:cNvPr id="11" name=""/>
          <p:cNvSpPr txBox="1"/>
          <p:nvPr/>
        </p:nvSpPr>
        <p:spPr>
          <a:xfrm>
            <a:off x="1905000" y="2238375"/>
            <a:ext cx="6667500" cy="285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300" spc="0" u="none" cap="none">
                <a:solidFill>
                  <a:srgbClr val="000000">
                    <a:alpha val="100000"/>
                  </a:srgbClr>
                </a:solidFill>
                <a:latin typeface="Public Sans Light"/>
              </a:rPr>
              <a:t><![CDATA[Consommateurs : HDR ]]></a:t>
            </a:r>
          </a:p>
        </p:txBody>
      </p:sp>
      <p:sp>
        <p:nvSpPr>
          <p:cNvPr id="12" name=""/>
          <p:cNvSpPr txBox="1"/>
          <p:nvPr/>
        </p:nvSpPr>
        <p:spPr>
          <a:xfrm>
            <a:off x="1905000" y="2571750"/>
            <a:ext cx="6667500" cy="285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300" spc="0" u="none" cap="none">
                <a:solidFill>
                  <a:srgbClr val="000000">
                    <a:alpha val="100000"/>
                  </a:srgbClr>
                </a:solidFill>
                <a:latin typeface="Public Sans Light"/>
              </a:rPr>
              <a:t><![CDATA[OM : Non spécifié]]></a:t>
            </a:r>
          </a:p>
        </p:txBody>
      </p:sp>
      <p:sp>
        <p:nvSpPr>
          <p:cNvPr id="13" name="" descr=""/>
          <p:cNvSpPr/>
          <p:nvPr/>
        </p:nvSpPr>
        <p:spPr>
          <a:xfrm>
            <a:off x="381000" y="3000375"/>
            <a:ext cx="8572500" cy="714375"/>
          </a:xfrm>
          <a:prstGeom prst="roundRect">
            <a:avLst/>
          </a:prstGeom>
          <a:solidFill>
            <a:srgbClr val="FFE6F2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4" name=""/>
          <p:cNvSpPr txBox="1"/>
          <p:nvPr/>
        </p:nvSpPr>
        <p:spPr>
          <a:xfrm>
            <a:off x="523875" y="3209925"/>
            <a:ext cx="8286750" cy="4762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000000">
                    <a:alpha val="100000"/>
                  </a:srgbClr>
                </a:solidFill>
                <a:latin typeface="Consolas"/>
              </a:rPr>
              <a:t><![CDATA[/projects/PRD/HAS/DLK/trusted-zone/HDR/FRA/EVENEMENT_DYNAMIQUE_ENRICHI]]></a:t>
            </a:r>
          </a:p>
        </p:txBody>
      </p:sp>
      <p:sp>
        <p:nvSpPr>
          <p:cNvPr id="15" name="" descr=""/>
          <p:cNvSpPr/>
          <p:nvPr/>
        </p:nvSpPr>
        <p:spPr>
          <a:xfrm>
            <a:off x="619125" y="2905125"/>
            <a:ext cx="714375" cy="209550"/>
          </a:xfrm>
          <a:prstGeom prst="round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6" name=""/>
          <p:cNvSpPr txBox="1"/>
          <p:nvPr/>
        </p:nvSpPr>
        <p:spPr>
          <a:xfrm>
            <a:off x="619125" y="2905125"/>
            <a:ext cx="714375" cy="209550"/>
          </a:xfrm>
          <a:prstGeom prst="rect">
            <a:avLst/>
          </a:prstGeom>
          <a:noFill/>
        </p:spPr>
        <p:txBody>
          <a:bodyPr anchor="ctr" anchorCtr="0" rtlCol="0" vert="horz" bIns="45720" lIns="91440" rIns="91440" tIns="45720">
            <a:spAutoFit/>
          </a:bodyPr>
          <a:lstStyle/>
          <a:p>
            <a:pPr algn="ctr" rtl="0" fontAlgn="ctr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100" spc="0" u="none" cap="none">
                <a:solidFill>
                  <a:srgbClr val="000000">
                    <a:alpha val="100000"/>
                  </a:srgbClr>
                </a:solidFill>
                <a:latin typeface="Enedis"/>
              </a:rPr>
              <a:t><![CDATA[PATH]]></a:t>
            </a:r>
          </a:p>
        </p:txBody>
      </p:sp>
      <p:sp>
        <p:nvSpPr>
          <p:cNvPr id="17" name="" descr=""/>
          <p:cNvSpPr/>
          <p:nvPr/>
        </p:nvSpPr>
        <p:spPr>
          <a:xfrm>
            <a:off x="381000" y="3905250"/>
            <a:ext cx="8572500" cy="714375"/>
          </a:xfrm>
          <a:prstGeom prst="roundRect">
            <a:avLst/>
          </a:prstGeom>
          <a:solidFill>
            <a:srgbClr val="F0E6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8" name=""/>
          <p:cNvSpPr txBox="1"/>
          <p:nvPr/>
        </p:nvSpPr>
        <p:spPr>
          <a:xfrm>
            <a:off x="523875" y="4114800"/>
            <a:ext cx="8286750" cy="4762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000000">
                    <a:alpha val="100000"/>
                  </a:srgbClr>
                </a:solidFill>
                <a:latin typeface="Consolas"/>
              </a:rPr>
              <a:t><![CDATA[hdr_evenement_dynamique_enrichi_fra]]></a:t>
            </a:r>
            <a:br/>
            <a:r>
              <a:rPr lang="en-US" strike="noStrike" sz="1200" spc="0" u="none" cap="none">
                <a:solidFill>
                  <a:srgbClr val="000000">
                    <a:alpha val="100000"/>
                  </a:srgbClr>
                </a:solidFill>
                <a:latin typeface="Consolas"/>
              </a:rPr>
              <a:t><![CDATA[ ]]></a:t>
            </a:r>
            <a:br/>
            <a:r>
              <a:rPr lang="en-US" strike="noStrike" sz="1200" spc="0" u="none" cap="none">
                <a:solidFill>
                  <a:srgbClr val="000000">
                    <a:alpha val="100000"/>
                  </a:srgbClr>
                </a:solidFill>
                <a:latin typeface="Consolas"/>
              </a:rPr>
              <a:t><![CDATA[ ]]></a:t>
            </a:r>
          </a:p>
        </p:txBody>
      </p:sp>
      <p:sp>
        <p:nvSpPr>
          <p:cNvPr id="19" name="" descr=""/>
          <p:cNvSpPr/>
          <p:nvPr/>
        </p:nvSpPr>
        <p:spPr>
          <a:xfrm>
            <a:off x="619125" y="3810000"/>
            <a:ext cx="714375" cy="209550"/>
          </a:xfrm>
          <a:prstGeom prst="round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20" name=""/>
          <p:cNvSpPr txBox="1"/>
          <p:nvPr/>
        </p:nvSpPr>
        <p:spPr>
          <a:xfrm>
            <a:off x="619125" y="3810000"/>
            <a:ext cx="714375" cy="209550"/>
          </a:xfrm>
          <a:prstGeom prst="rect">
            <a:avLst/>
          </a:prstGeom>
          <a:noFill/>
        </p:spPr>
        <p:txBody>
          <a:bodyPr anchor="ctr" anchorCtr="0" rtlCol="0" vert="horz" bIns="45720" lIns="91440" rIns="91440" tIns="45720">
            <a:spAutoFit/>
          </a:bodyPr>
          <a:lstStyle/>
          <a:p>
            <a:pPr algn="ctr" rtl="0" fontAlgn="ctr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100" spc="0" u="none" cap="none">
                <a:solidFill>
                  <a:srgbClr val="000000">
                    <a:alpha val="100000"/>
                  </a:srgbClr>
                </a:solidFill>
                <a:latin typeface="Enedis"/>
              </a:rPr>
              <a:t><![CDATA[HIVE]]></a:t>
            </a:r>
          </a:p>
        </p:txBody>
      </p:sp>
      <p:sp>
        <p:nvSpPr>
          <p:cNvPr id="21" name=""/>
          <p:cNvSpPr txBox="1"/>
          <p:nvPr/>
        </p:nvSpPr>
        <p:spPr>
          <a:xfrm>
            <a:off x="381000" y="4810125"/>
            <a:ext cx="2857500" cy="190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100" spc="0" u="none" cap="none">
                <a:solidFill>
                  <a:srgbClr val="1423DC">
                    <a:alpha val="100000"/>
                  </a:srgbClr>
                </a:solidFill>
                <a:latin typeface="Enedis"/>
              </a:rPr>
              <a:t><![CDATA[ENEDIS]]></a:t>
            </a:r>
          </a:p>
        </p:txBody>
      </p:sp>
      <p:sp>
        <p:nvSpPr>
          <p:cNvPr id="22" name=""/>
          <p:cNvSpPr txBox="1"/>
          <p:nvPr/>
        </p:nvSpPr>
        <p:spPr>
          <a:xfrm>
            <a:off x="4191000" y="4810125"/>
            <a:ext cx="4572000" cy="190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100" spc="0" u="none" cap="none">
                <a:solidFill>
                  <a:srgbClr val="595959">
                    <a:alpha val="100000"/>
                  </a:srgbClr>
                </a:solidFill>
                <a:latin typeface="Public Sans Light"/>
              </a:rPr>
              <a:t><![CDATA[B4A-39940  ·  Ting (Dev)]]>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381000" y="285750"/>
          <a:ext cx="8953500" cy="5000625"/>
          <a:chOff x="381000" y="285750"/>
          <a:chExt cx="8953500" cy="5000625"/>
        </a:xfrm>
      </p:grpSpPr>
      <p:sp>
        <p:nvSpPr>
          <p:cNvPr id="2" name=""/>
          <p:cNvSpPr txBox="1"/>
          <p:nvPr/>
        </p:nvSpPr>
        <p:spPr>
          <a:xfrm>
            <a:off x="381000" y="285750"/>
            <a:ext cx="8572500" cy="381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400" spc="0" u="none" cap="none">
                <a:solidFill>
                  <a:srgbClr val="1423DC">
                    <a:alpha val="100000"/>
                  </a:srgbClr>
                </a:solidFill>
                <a:latin typeface="Enedis"/>
              </a:rPr>
              <a:t><![CDATA[HDR – Coupure PRM chevauchement]]></a:t>
            </a:r>
          </a:p>
        </p:txBody>
      </p:sp>
      <p:sp>
        <p:nvSpPr>
          <p:cNvPr id="3" name=""/>
          <p:cNvSpPr txBox="1"/>
          <p:nvPr/>
        </p:nvSpPr>
        <p:spPr>
          <a:xfrm>
            <a:off x="381000" y="714375"/>
            <a:ext cx="8572500" cy="4762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595959">
                    <a:alpha val="100000"/>
                  </a:srgbClr>
                </a:solidFill>
                <a:latin typeface="Public Sans Light"/>
              </a:rPr>
              <a:t><![CDATA[HDR est un SI dont le cœur de métier est de connaitre l’intégralité de la topologie réseau détenu par ENEDIS. De l’aval connecté à RTE aux PRM représentants les compteurs linky.]]></a:t>
            </a:r>
          </a:p>
        </p:txBody>
      </p:sp>
      <p:sp>
        <p:nvSpPr>
          <p:cNvPr id="4" name="" descr=""/>
          <p:cNvSpPr/>
          <p:nvPr/>
        </p:nvSpPr>
        <p:spPr>
          <a:xfrm>
            <a:off x="381000" y="1333500"/>
            <a:ext cx="952500" cy="304800"/>
          </a:xfrm>
          <a:prstGeom prst="roundRect">
            <a:avLst/>
          </a:prstGeom>
          <a:solidFill>
            <a:srgbClr val="1ABC9C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/>
          <p:cNvSpPr txBox="1"/>
          <p:nvPr/>
        </p:nvSpPr>
        <p:spPr>
          <a:xfrm>
            <a:off x="381000" y="1333500"/>
            <a:ext cx="952500" cy="304800"/>
          </a:xfrm>
          <a:prstGeom prst="rect">
            <a:avLst/>
          </a:prstGeom>
          <a:noFill/>
        </p:spPr>
        <p:txBody>
          <a:bodyPr anchor="ctr" anchorCtr="0" rtlCol="0" vert="horz" bIns="45720" lIns="91440" rIns="91440" tIns="45720">
            <a:spAutoFit/>
          </a:bodyPr>
          <a:lstStyle/>
          <a:p>
            <a:pPr algn="ctr" rtl="0" fontAlgn="ctr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200" spc="0" u="none" cap="none">
                <a:solidFill>
                  <a:srgbClr val="FFFFFF">
                    <a:alpha val="100000"/>
                  </a:srgbClr>
                </a:solidFill>
                <a:latin typeface="Public Sans Light"/>
              </a:rPr>
              <a:t><![CDATA[Evolution]]></a:t>
            </a:r>
          </a:p>
        </p:txBody>
      </p:sp>
      <p:sp>
        <p:nvSpPr>
          <p:cNvPr id="6" name="" descr=""/>
          <p:cNvSpPr/>
          <p:nvPr/>
        </p:nvSpPr>
        <p:spPr>
          <a:xfrm>
            <a:off x="381000" y="1762125"/>
            <a:ext cx="952500" cy="304800"/>
          </a:xfrm>
          <a:prstGeom prst="roundRect">
            <a:avLst/>
          </a:prstGeom>
          <a:solidFill>
            <a:srgbClr val="8E44AD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/>
          <p:cNvSpPr txBox="1"/>
          <p:nvPr/>
        </p:nvSpPr>
        <p:spPr>
          <a:xfrm>
            <a:off x="381000" y="1762125"/>
            <a:ext cx="952500" cy="304800"/>
          </a:xfrm>
          <a:prstGeom prst="rect">
            <a:avLst/>
          </a:prstGeom>
          <a:noFill/>
        </p:spPr>
        <p:txBody>
          <a:bodyPr anchor="ctr" anchorCtr="0" rtlCol="0" vert="horz" bIns="45720" lIns="91440" rIns="91440" tIns="45720">
            <a:spAutoFit/>
          </a:bodyPr>
          <a:lstStyle/>
          <a:p>
            <a:pPr algn="ctr" rtl="0" fontAlgn="ctr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200" spc="0" u="none" cap="none">
                <a:solidFill>
                  <a:srgbClr val="FFFFFF">
                    <a:alpha val="100000"/>
                  </a:srgbClr>
                </a:solidFill>
                <a:latin typeface="Public Sans Light"/>
              </a:rPr>
              <a:t><![CDATA[Recette]]></a:t>
            </a:r>
          </a:p>
        </p:txBody>
      </p:sp>
      <p:sp>
        <p:nvSpPr>
          <p:cNvPr id="8" name="" descr=""/>
          <p:cNvSpPr/>
          <p:nvPr/>
        </p:nvSpPr>
        <p:spPr>
          <a:xfrm>
            <a:off x="381000" y="2286000"/>
            <a:ext cx="952500" cy="304800"/>
          </a:xfrm>
          <a:prstGeom prst="roundRect">
            <a:avLst/>
          </a:prstGeom>
          <a:solidFill>
            <a:srgbClr val="8E44AD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9" name=""/>
          <p:cNvSpPr txBox="1"/>
          <p:nvPr/>
        </p:nvSpPr>
        <p:spPr>
          <a:xfrm>
            <a:off x="381000" y="2286000"/>
            <a:ext cx="952500" cy="304800"/>
          </a:xfrm>
          <a:prstGeom prst="rect">
            <a:avLst/>
          </a:prstGeom>
          <a:noFill/>
        </p:spPr>
        <p:txBody>
          <a:bodyPr anchor="ctr" anchorCtr="0" rtlCol="0" vert="horz" bIns="45720" lIns="91440" rIns="91440" tIns="45720">
            <a:spAutoFit/>
          </a:bodyPr>
          <a:lstStyle/>
          <a:p>
            <a:pPr algn="ctr" rtl="0" fontAlgn="ctr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200" spc="0" u="none" cap="none">
                <a:solidFill>
                  <a:srgbClr val="FFFFFF">
                    <a:alpha val="100000"/>
                  </a:srgbClr>
                </a:solidFill>
                <a:latin typeface="Public Sans Light"/>
              </a:rPr>
              <a:t><![CDATA[KAFKA]]></a:t>
            </a:r>
          </a:p>
        </p:txBody>
      </p:sp>
      <p:sp>
        <p:nvSpPr>
          <p:cNvPr id="10" name=""/>
          <p:cNvSpPr txBox="1"/>
          <p:nvPr/>
        </p:nvSpPr>
        <p:spPr>
          <a:xfrm>
            <a:off x="1905000" y="1333500"/>
            <a:ext cx="6667500" cy="8572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400" spc="0" u="none" cap="none">
                <a:solidFill>
                  <a:srgbClr val="000000">
                    <a:alpha val="100000"/>
                  </a:srgbClr>
                </a:solidFill>
                <a:latin typeface="Public Sans Light"/>
              </a:rPr>
              <a:t><![CDATA[Kafka]]></a:t>
            </a:r>
          </a:p>
        </p:txBody>
      </p:sp>
      <p:sp>
        <p:nvSpPr>
          <p:cNvPr id="11" name=""/>
          <p:cNvSpPr txBox="1"/>
          <p:nvPr/>
        </p:nvSpPr>
        <p:spPr>
          <a:xfrm>
            <a:off x="1905000" y="2238375"/>
            <a:ext cx="6667500" cy="285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300" spc="0" u="none" cap="none">
                <a:solidFill>
                  <a:srgbClr val="000000">
                    <a:alpha val="100000"/>
                  </a:srgbClr>
                </a:solidFill>
                <a:latin typeface="Public Sans Light"/>
              </a:rPr>
              <a:t><![CDATA[Consommateurs : HDR ]]></a:t>
            </a:r>
          </a:p>
        </p:txBody>
      </p:sp>
      <p:sp>
        <p:nvSpPr>
          <p:cNvPr id="12" name=""/>
          <p:cNvSpPr txBox="1"/>
          <p:nvPr/>
        </p:nvSpPr>
        <p:spPr>
          <a:xfrm>
            <a:off x="1905000" y="2571750"/>
            <a:ext cx="6667500" cy="285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300" spc="0" u="none" cap="none">
                <a:solidFill>
                  <a:srgbClr val="000000">
                    <a:alpha val="100000"/>
                  </a:srgbClr>
                </a:solidFill>
                <a:latin typeface="Public Sans Light"/>
              </a:rPr>
              <a:t><![CDATA[OM : Non spécifié]]></a:t>
            </a:r>
          </a:p>
        </p:txBody>
      </p:sp>
      <p:sp>
        <p:nvSpPr>
          <p:cNvPr id="13" name="" descr=""/>
          <p:cNvSpPr/>
          <p:nvPr/>
        </p:nvSpPr>
        <p:spPr>
          <a:xfrm>
            <a:off x="381000" y="3000375"/>
            <a:ext cx="8572500" cy="714375"/>
          </a:xfrm>
          <a:prstGeom prst="roundRect">
            <a:avLst/>
          </a:prstGeom>
          <a:solidFill>
            <a:srgbClr val="FFE6F2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4" name=""/>
          <p:cNvSpPr txBox="1"/>
          <p:nvPr/>
        </p:nvSpPr>
        <p:spPr>
          <a:xfrm>
            <a:off x="523875" y="3209925"/>
            <a:ext cx="8286750" cy="4762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000000">
                    <a:alpha val="100000"/>
                  </a:srgbClr>
                </a:solidFill>
                <a:latin typeface="Consolas"/>
              </a:rPr>
              <a:t><![CDATA[/projects/PRD/HAS/DLK/trusted-zone/HDR/FRA/CHEVAUCHEMENT]]></a:t>
            </a:r>
          </a:p>
        </p:txBody>
      </p:sp>
      <p:sp>
        <p:nvSpPr>
          <p:cNvPr id="15" name="" descr=""/>
          <p:cNvSpPr/>
          <p:nvPr/>
        </p:nvSpPr>
        <p:spPr>
          <a:xfrm>
            <a:off x="619125" y="2905125"/>
            <a:ext cx="714375" cy="209550"/>
          </a:xfrm>
          <a:prstGeom prst="round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6" name=""/>
          <p:cNvSpPr txBox="1"/>
          <p:nvPr/>
        </p:nvSpPr>
        <p:spPr>
          <a:xfrm>
            <a:off x="619125" y="2905125"/>
            <a:ext cx="714375" cy="209550"/>
          </a:xfrm>
          <a:prstGeom prst="rect">
            <a:avLst/>
          </a:prstGeom>
          <a:noFill/>
        </p:spPr>
        <p:txBody>
          <a:bodyPr anchor="ctr" anchorCtr="0" rtlCol="0" vert="horz" bIns="45720" lIns="91440" rIns="91440" tIns="45720">
            <a:spAutoFit/>
          </a:bodyPr>
          <a:lstStyle/>
          <a:p>
            <a:pPr algn="ctr" rtl="0" fontAlgn="ctr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100" spc="0" u="none" cap="none">
                <a:solidFill>
                  <a:srgbClr val="000000">
                    <a:alpha val="100000"/>
                  </a:srgbClr>
                </a:solidFill>
                <a:latin typeface="Enedis"/>
              </a:rPr>
              <a:t><![CDATA[PATH]]></a:t>
            </a:r>
          </a:p>
        </p:txBody>
      </p:sp>
      <p:sp>
        <p:nvSpPr>
          <p:cNvPr id="17" name="" descr=""/>
          <p:cNvSpPr/>
          <p:nvPr/>
        </p:nvSpPr>
        <p:spPr>
          <a:xfrm>
            <a:off x="381000" y="3905250"/>
            <a:ext cx="8572500" cy="714375"/>
          </a:xfrm>
          <a:prstGeom prst="roundRect">
            <a:avLst/>
          </a:prstGeom>
          <a:solidFill>
            <a:srgbClr val="F0E6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8" name=""/>
          <p:cNvSpPr txBox="1"/>
          <p:nvPr/>
        </p:nvSpPr>
        <p:spPr>
          <a:xfrm>
            <a:off x="523875" y="4114800"/>
            <a:ext cx="8286750" cy="4762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000000">
                    <a:alpha val="100000"/>
                  </a:srgbClr>
                </a:solidFill>
                <a:latin typeface="Consolas"/>
              </a:rPr>
              <a:t><![CDATA[hdr_chevauchement_fra]]></a:t>
            </a:r>
          </a:p>
        </p:txBody>
      </p:sp>
      <p:sp>
        <p:nvSpPr>
          <p:cNvPr id="19" name="" descr=""/>
          <p:cNvSpPr/>
          <p:nvPr/>
        </p:nvSpPr>
        <p:spPr>
          <a:xfrm>
            <a:off x="619125" y="3810000"/>
            <a:ext cx="714375" cy="209550"/>
          </a:xfrm>
          <a:prstGeom prst="round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20" name=""/>
          <p:cNvSpPr txBox="1"/>
          <p:nvPr/>
        </p:nvSpPr>
        <p:spPr>
          <a:xfrm>
            <a:off x="619125" y="3810000"/>
            <a:ext cx="714375" cy="209550"/>
          </a:xfrm>
          <a:prstGeom prst="rect">
            <a:avLst/>
          </a:prstGeom>
          <a:noFill/>
        </p:spPr>
        <p:txBody>
          <a:bodyPr anchor="ctr" anchorCtr="0" rtlCol="0" vert="horz" bIns="45720" lIns="91440" rIns="91440" tIns="45720">
            <a:spAutoFit/>
          </a:bodyPr>
          <a:lstStyle/>
          <a:p>
            <a:pPr algn="ctr" rtl="0" fontAlgn="ctr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100" spc="0" u="none" cap="none">
                <a:solidFill>
                  <a:srgbClr val="000000">
                    <a:alpha val="100000"/>
                  </a:srgbClr>
                </a:solidFill>
                <a:latin typeface="Enedis"/>
              </a:rPr>
              <a:t><![CDATA[HIVE]]></a:t>
            </a:r>
          </a:p>
        </p:txBody>
      </p:sp>
      <p:sp>
        <p:nvSpPr>
          <p:cNvPr id="21" name=""/>
          <p:cNvSpPr txBox="1"/>
          <p:nvPr/>
        </p:nvSpPr>
        <p:spPr>
          <a:xfrm>
            <a:off x="381000" y="4810125"/>
            <a:ext cx="2857500" cy="190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100" spc="0" u="none" cap="none">
                <a:solidFill>
                  <a:srgbClr val="1423DC">
                    <a:alpha val="100000"/>
                  </a:srgbClr>
                </a:solidFill>
                <a:latin typeface="Enedis"/>
              </a:rPr>
              <a:t><![CDATA[ENEDIS]]></a:t>
            </a:r>
          </a:p>
        </p:txBody>
      </p:sp>
      <p:sp>
        <p:nvSpPr>
          <p:cNvPr id="22" name=""/>
          <p:cNvSpPr txBox="1"/>
          <p:nvPr/>
        </p:nvSpPr>
        <p:spPr>
          <a:xfrm>
            <a:off x="4191000" y="4810125"/>
            <a:ext cx="4572000" cy="190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100" spc="0" u="none" cap="none">
                <a:solidFill>
                  <a:srgbClr val="595959">
                    <a:alpha val="100000"/>
                  </a:srgbClr>
                </a:solidFill>
                <a:latin typeface="Public Sans Light"/>
              </a:rPr>
              <a:t><![CDATA[B4A-39941  ·  Ting (Dev)]]>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381000" y="285750"/>
          <a:ext cx="8953500" cy="5000625"/>
          <a:chOff x="381000" y="285750"/>
          <a:chExt cx="8953500" cy="5000625"/>
        </a:xfrm>
      </p:grpSpPr>
      <p:sp>
        <p:nvSpPr>
          <p:cNvPr id="2" name=""/>
          <p:cNvSpPr txBox="1"/>
          <p:nvPr/>
        </p:nvSpPr>
        <p:spPr>
          <a:xfrm>
            <a:off x="381000" y="285750"/>
            <a:ext cx="8572500" cy="381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400" spc="0" u="none" cap="none">
                <a:solidFill>
                  <a:srgbClr val="1423DC">
                    <a:alpha val="100000"/>
                  </a:srgbClr>
                </a:solidFill>
                <a:latin typeface="Enedis"/>
              </a:rPr>
              <a:t><![CDATA[INGENG – [PROTO] Recette de bout en bout de l'ingestion KAFKA PROTO (sur eStock)]]></a:t>
            </a:r>
          </a:p>
        </p:txBody>
      </p:sp>
      <p:sp>
        <p:nvSpPr>
          <p:cNvPr id="3" name="" descr=""/>
          <p:cNvSpPr/>
          <p:nvPr/>
        </p:nvSpPr>
        <p:spPr>
          <a:xfrm>
            <a:off x="381000" y="1333500"/>
            <a:ext cx="952500" cy="304800"/>
          </a:xfrm>
          <a:prstGeom prst="roundRect">
            <a:avLst/>
          </a:prstGeom>
          <a:solidFill>
            <a:srgbClr val="1ABC9C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/>
          <p:cNvSpPr txBox="1"/>
          <p:nvPr/>
        </p:nvSpPr>
        <p:spPr>
          <a:xfrm>
            <a:off x="381000" y="1333500"/>
            <a:ext cx="952500" cy="304800"/>
          </a:xfrm>
          <a:prstGeom prst="rect">
            <a:avLst/>
          </a:prstGeom>
          <a:noFill/>
        </p:spPr>
        <p:txBody>
          <a:bodyPr anchor="ctr" anchorCtr="0" rtlCol="0" vert="horz" bIns="45720" lIns="91440" rIns="91440" tIns="45720">
            <a:spAutoFit/>
          </a:bodyPr>
          <a:lstStyle/>
          <a:p>
            <a:pPr algn="ctr" rtl="0" fontAlgn="ctr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200" spc="0" u="none" cap="none">
                <a:solidFill>
                  <a:srgbClr val="FFFFFF">
                    <a:alpha val="100000"/>
                  </a:srgbClr>
                </a:solidFill>
                <a:latin typeface="Public Sans Light"/>
              </a:rPr>
              <a:t><![CDATA[Evolution]]></a:t>
            </a:r>
          </a:p>
        </p:txBody>
      </p:sp>
      <p:sp>
        <p:nvSpPr>
          <p:cNvPr id="5" name="" descr=""/>
          <p:cNvSpPr/>
          <p:nvPr/>
        </p:nvSpPr>
        <p:spPr>
          <a:xfrm>
            <a:off x="381000" y="1762125"/>
            <a:ext cx="952500" cy="304800"/>
          </a:xfrm>
          <a:prstGeom prst="roundRect">
            <a:avLst/>
          </a:prstGeom>
          <a:solidFill>
            <a:srgbClr val="7F8C8D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/>
          <p:cNvSpPr txBox="1"/>
          <p:nvPr/>
        </p:nvSpPr>
        <p:spPr>
          <a:xfrm>
            <a:off x="381000" y="1762125"/>
            <a:ext cx="952500" cy="304800"/>
          </a:xfrm>
          <a:prstGeom prst="rect">
            <a:avLst/>
          </a:prstGeom>
          <a:noFill/>
        </p:spPr>
        <p:txBody>
          <a:bodyPr anchor="ctr" anchorCtr="0" rtlCol="0" vert="horz" bIns="45720" lIns="91440" rIns="91440" tIns="45720">
            <a:spAutoFit/>
          </a:bodyPr>
          <a:lstStyle/>
          <a:p>
            <a:pPr algn="ctr" rtl="0" fontAlgn="ctr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200" spc="0" u="none" cap="none">
                <a:solidFill>
                  <a:srgbClr val="FFFFFF">
                    <a:alpha val="100000"/>
                  </a:srgbClr>
                </a:solidFill>
                <a:latin typeface="Public Sans Light"/>
              </a:rPr>
              <a:t><![CDATA[Terminé]]></a:t>
            </a:r>
          </a:p>
        </p:txBody>
      </p:sp>
      <p:sp>
        <p:nvSpPr>
          <p:cNvPr id="7" name="" descr=""/>
          <p:cNvSpPr/>
          <p:nvPr/>
        </p:nvSpPr>
        <p:spPr>
          <a:xfrm>
            <a:off x="381000" y="2286000"/>
            <a:ext cx="952500" cy="304800"/>
          </a:xfrm>
          <a:prstGeom prst="roundRect">
            <a:avLst/>
          </a:prstGeom>
          <a:solidFill>
            <a:srgbClr val="8E44AD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8" name=""/>
          <p:cNvSpPr txBox="1"/>
          <p:nvPr/>
        </p:nvSpPr>
        <p:spPr>
          <a:xfrm>
            <a:off x="381000" y="2286000"/>
            <a:ext cx="952500" cy="304800"/>
          </a:xfrm>
          <a:prstGeom prst="rect">
            <a:avLst/>
          </a:prstGeom>
          <a:noFill/>
        </p:spPr>
        <p:txBody>
          <a:bodyPr anchor="ctr" anchorCtr="0" rtlCol="0" vert="horz" bIns="45720" lIns="91440" rIns="91440" tIns="45720">
            <a:spAutoFit/>
          </a:bodyPr>
          <a:lstStyle/>
          <a:p>
            <a:pPr algn="ctr" rtl="0" fontAlgn="ctr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200" spc="0" u="none" cap="none">
                <a:solidFill>
                  <a:srgbClr val="FFFFFF">
                    <a:alpha val="100000"/>
                  </a:srgbClr>
                </a:solidFill>
                <a:latin typeface="Public Sans Light"/>
              </a:rPr>
              <a:t><![CDATA[KAFKA]]></a:t>
            </a:r>
          </a:p>
        </p:txBody>
      </p:sp>
      <p:sp>
        <p:nvSpPr>
          <p:cNvPr id="9" name=""/>
          <p:cNvSpPr txBox="1"/>
          <p:nvPr/>
        </p:nvSpPr>
        <p:spPr>
          <a:xfrm>
            <a:off x="1905000" y="1333500"/>
            <a:ext cx="6667500" cy="8572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i="1" strike="noStrike" sz="1400" spc="0" u="none" cap="none">
                <a:solidFill>
                  <a:srgbClr val="7F8C8D">
                    <a:alpha val="100000"/>
                  </a:srgbClr>
                </a:solidFill>
                <a:latin typeface="Public Sans Light"/>
              </a:rPr>
              <a:t><![CDATA[Objectif non renseigné dans le ticket]]></a:t>
            </a:r>
          </a:p>
        </p:txBody>
      </p:sp>
      <p:sp>
        <p:nvSpPr>
          <p:cNvPr id="10" name=""/>
          <p:cNvSpPr txBox="1"/>
          <p:nvPr/>
        </p:nvSpPr>
        <p:spPr>
          <a:xfrm>
            <a:off x="1905000" y="2238375"/>
            <a:ext cx="6667500" cy="285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300" spc="0" u="none" cap="none">
                <a:solidFill>
                  <a:srgbClr val="000000">
                    <a:alpha val="100000"/>
                  </a:srgbClr>
                </a:solidFill>
                <a:latin typeface="Public Sans Light"/>
              </a:rPr>
              <a:t><![CDATA[Consommateurs : Non spécifié]]></a:t>
            </a:r>
          </a:p>
        </p:txBody>
      </p:sp>
      <p:sp>
        <p:nvSpPr>
          <p:cNvPr id="11" name=""/>
          <p:cNvSpPr txBox="1"/>
          <p:nvPr/>
        </p:nvSpPr>
        <p:spPr>
          <a:xfrm>
            <a:off x="1905000" y="2571750"/>
            <a:ext cx="6667500" cy="285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300" spc="0" u="none" cap="none">
                <a:solidFill>
                  <a:srgbClr val="000000">
                    <a:alpha val="100000"/>
                  </a:srgbClr>
                </a:solidFill>
                <a:latin typeface="Public Sans Light"/>
              </a:rPr>
              <a:t><![CDATA[OM : Non spécifié]]></a:t>
            </a:r>
          </a:p>
        </p:txBody>
      </p:sp>
      <p:sp>
        <p:nvSpPr>
          <p:cNvPr id="12" name="" descr=""/>
          <p:cNvSpPr/>
          <p:nvPr/>
        </p:nvSpPr>
        <p:spPr>
          <a:xfrm>
            <a:off x="381000" y="3000375"/>
            <a:ext cx="8572500" cy="714375"/>
          </a:xfrm>
          <a:prstGeom prst="roundRect">
            <a:avLst/>
          </a:prstGeom>
          <a:solidFill>
            <a:srgbClr val="FFE6F2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3" name=""/>
          <p:cNvSpPr txBox="1"/>
          <p:nvPr/>
        </p:nvSpPr>
        <p:spPr>
          <a:xfrm>
            <a:off x="523875" y="3209925"/>
            <a:ext cx="8286750" cy="4762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i="1" strike="noStrike" sz="1200" spc="0" u="none" cap="none">
                <a:solidFill>
                  <a:srgbClr val="7F8C8D">
                    <a:alpha val="100000"/>
                  </a:srgbClr>
                </a:solidFill>
                <a:latin typeface="Consolas"/>
              </a:rPr>
              <a:t><![CDATA[Non renseigné]]></a:t>
            </a:r>
          </a:p>
        </p:txBody>
      </p:sp>
      <p:sp>
        <p:nvSpPr>
          <p:cNvPr id="14" name="" descr=""/>
          <p:cNvSpPr/>
          <p:nvPr/>
        </p:nvSpPr>
        <p:spPr>
          <a:xfrm>
            <a:off x="619125" y="2905125"/>
            <a:ext cx="714375" cy="209550"/>
          </a:xfrm>
          <a:prstGeom prst="round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5" name=""/>
          <p:cNvSpPr txBox="1"/>
          <p:nvPr/>
        </p:nvSpPr>
        <p:spPr>
          <a:xfrm>
            <a:off x="619125" y="2905125"/>
            <a:ext cx="714375" cy="209550"/>
          </a:xfrm>
          <a:prstGeom prst="rect">
            <a:avLst/>
          </a:prstGeom>
          <a:noFill/>
        </p:spPr>
        <p:txBody>
          <a:bodyPr anchor="ctr" anchorCtr="0" rtlCol="0" vert="horz" bIns="45720" lIns="91440" rIns="91440" tIns="45720">
            <a:spAutoFit/>
          </a:bodyPr>
          <a:lstStyle/>
          <a:p>
            <a:pPr algn="ctr" rtl="0" fontAlgn="ctr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100" spc="0" u="none" cap="none">
                <a:solidFill>
                  <a:srgbClr val="000000">
                    <a:alpha val="100000"/>
                  </a:srgbClr>
                </a:solidFill>
                <a:latin typeface="Enedis"/>
              </a:rPr>
              <a:t><![CDATA[PATH]]></a:t>
            </a:r>
          </a:p>
        </p:txBody>
      </p:sp>
      <p:sp>
        <p:nvSpPr>
          <p:cNvPr id="16" name="" descr=""/>
          <p:cNvSpPr/>
          <p:nvPr/>
        </p:nvSpPr>
        <p:spPr>
          <a:xfrm>
            <a:off x="381000" y="3905250"/>
            <a:ext cx="8572500" cy="714375"/>
          </a:xfrm>
          <a:prstGeom prst="roundRect">
            <a:avLst/>
          </a:prstGeom>
          <a:solidFill>
            <a:srgbClr val="F0E6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7" name=""/>
          <p:cNvSpPr txBox="1"/>
          <p:nvPr/>
        </p:nvSpPr>
        <p:spPr>
          <a:xfrm>
            <a:off x="523875" y="4114800"/>
            <a:ext cx="8286750" cy="4762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i="1" strike="noStrike" sz="1200" spc="0" u="none" cap="none">
                <a:solidFill>
                  <a:srgbClr val="7F8C8D">
                    <a:alpha val="100000"/>
                  </a:srgbClr>
                </a:solidFill>
                <a:latin typeface="Consolas"/>
              </a:rPr>
              <a:t><![CDATA[Non renseigné]]></a:t>
            </a:r>
          </a:p>
        </p:txBody>
      </p:sp>
      <p:sp>
        <p:nvSpPr>
          <p:cNvPr id="18" name="" descr=""/>
          <p:cNvSpPr/>
          <p:nvPr/>
        </p:nvSpPr>
        <p:spPr>
          <a:xfrm>
            <a:off x="619125" y="3810000"/>
            <a:ext cx="714375" cy="209550"/>
          </a:xfrm>
          <a:prstGeom prst="round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9" name=""/>
          <p:cNvSpPr txBox="1"/>
          <p:nvPr/>
        </p:nvSpPr>
        <p:spPr>
          <a:xfrm>
            <a:off x="619125" y="3810000"/>
            <a:ext cx="714375" cy="209550"/>
          </a:xfrm>
          <a:prstGeom prst="rect">
            <a:avLst/>
          </a:prstGeom>
          <a:noFill/>
        </p:spPr>
        <p:txBody>
          <a:bodyPr anchor="ctr" anchorCtr="0" rtlCol="0" vert="horz" bIns="45720" lIns="91440" rIns="91440" tIns="45720">
            <a:spAutoFit/>
          </a:bodyPr>
          <a:lstStyle/>
          <a:p>
            <a:pPr algn="ctr" rtl="0" fontAlgn="ctr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100" spc="0" u="none" cap="none">
                <a:solidFill>
                  <a:srgbClr val="000000">
                    <a:alpha val="100000"/>
                  </a:srgbClr>
                </a:solidFill>
                <a:latin typeface="Enedis"/>
              </a:rPr>
              <a:t><![CDATA[HIVE]]></a:t>
            </a:r>
          </a:p>
        </p:txBody>
      </p:sp>
      <p:sp>
        <p:nvSpPr>
          <p:cNvPr id="20" name=""/>
          <p:cNvSpPr txBox="1"/>
          <p:nvPr/>
        </p:nvSpPr>
        <p:spPr>
          <a:xfrm>
            <a:off x="381000" y="4810125"/>
            <a:ext cx="2857500" cy="190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100" spc="0" u="none" cap="none">
                <a:solidFill>
                  <a:srgbClr val="1423DC">
                    <a:alpha val="100000"/>
                  </a:srgbClr>
                </a:solidFill>
                <a:latin typeface="Enedis"/>
              </a:rPr>
              <a:t><![CDATA[ENEDIS]]></a:t>
            </a:r>
          </a:p>
        </p:txBody>
      </p:sp>
      <p:sp>
        <p:nvSpPr>
          <p:cNvPr id="21" name=""/>
          <p:cNvSpPr txBox="1"/>
          <p:nvPr/>
        </p:nvSpPr>
        <p:spPr>
          <a:xfrm>
            <a:off x="4191000" y="4810125"/>
            <a:ext cx="4572000" cy="190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100" spc="0" u="none" cap="none">
                <a:solidFill>
                  <a:srgbClr val="595959">
                    <a:alpha val="100000"/>
                  </a:srgbClr>
                </a:solidFill>
                <a:latin typeface="Public Sans Light"/>
              </a:rPr>
              <a:t><![CDATA[B4A-38418  ·  Arij (Dev)  ·  déduit de l'historique]]>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381000" y="285750"/>
          <a:ext cx="8953500" cy="5000625"/>
          <a:chOff x="381000" y="285750"/>
          <a:chExt cx="8953500" cy="5000625"/>
        </a:xfrm>
      </p:grpSpPr>
      <p:sp>
        <p:nvSpPr>
          <p:cNvPr id="2" name=""/>
          <p:cNvSpPr txBox="1"/>
          <p:nvPr/>
        </p:nvSpPr>
        <p:spPr>
          <a:xfrm>
            <a:off x="381000" y="285750"/>
            <a:ext cx="8572500" cy="381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400" spc="0" u="none" cap="none">
                <a:solidFill>
                  <a:srgbClr val="1423DC">
                    <a:alpha val="100000"/>
                  </a:srgbClr>
                </a:solidFill>
                <a:latin typeface="Enedis"/>
              </a:rPr>
              <a:t><![CDATA[DLK – Migration datalake rh vers la stack DENG]]></a:t>
            </a:r>
          </a:p>
        </p:txBody>
      </p:sp>
      <p:sp>
        <p:nvSpPr>
          <p:cNvPr id="3" name="" descr=""/>
          <p:cNvSpPr/>
          <p:nvPr/>
        </p:nvSpPr>
        <p:spPr>
          <a:xfrm>
            <a:off x="381000" y="1333500"/>
            <a:ext cx="952500" cy="304800"/>
          </a:xfrm>
          <a:prstGeom prst="roundRect">
            <a:avLst/>
          </a:prstGeom>
          <a:solidFill>
            <a:srgbClr val="1ABC9C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/>
          <p:cNvSpPr txBox="1"/>
          <p:nvPr/>
        </p:nvSpPr>
        <p:spPr>
          <a:xfrm>
            <a:off x="381000" y="1333500"/>
            <a:ext cx="952500" cy="304800"/>
          </a:xfrm>
          <a:prstGeom prst="rect">
            <a:avLst/>
          </a:prstGeom>
          <a:noFill/>
        </p:spPr>
        <p:txBody>
          <a:bodyPr anchor="ctr" anchorCtr="0" rtlCol="0" vert="horz" bIns="45720" lIns="91440" rIns="91440" tIns="45720">
            <a:spAutoFit/>
          </a:bodyPr>
          <a:lstStyle/>
          <a:p>
            <a:pPr algn="ctr" rtl="0" fontAlgn="ctr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200" spc="0" u="none" cap="none">
                <a:solidFill>
                  <a:srgbClr val="FFFFFF">
                    <a:alpha val="100000"/>
                  </a:srgbClr>
                </a:solidFill>
                <a:latin typeface="Public Sans Light"/>
              </a:rPr>
              <a:t><![CDATA[Evolution]]></a:t>
            </a:r>
          </a:p>
        </p:txBody>
      </p:sp>
      <p:sp>
        <p:nvSpPr>
          <p:cNvPr id="5" name="" descr=""/>
          <p:cNvSpPr/>
          <p:nvPr/>
        </p:nvSpPr>
        <p:spPr>
          <a:xfrm>
            <a:off x="381000" y="1762125"/>
            <a:ext cx="952500" cy="304800"/>
          </a:xfrm>
          <a:prstGeom prst="roundRect">
            <a:avLst/>
          </a:prstGeom>
          <a:solidFill>
            <a:srgbClr val="8E44AD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/>
          <p:cNvSpPr txBox="1"/>
          <p:nvPr/>
        </p:nvSpPr>
        <p:spPr>
          <a:xfrm>
            <a:off x="381000" y="1762125"/>
            <a:ext cx="952500" cy="304800"/>
          </a:xfrm>
          <a:prstGeom prst="rect">
            <a:avLst/>
          </a:prstGeom>
          <a:noFill/>
        </p:spPr>
        <p:txBody>
          <a:bodyPr anchor="ctr" anchorCtr="0" rtlCol="0" vert="horz" bIns="45720" lIns="91440" rIns="91440" tIns="45720">
            <a:spAutoFit/>
          </a:bodyPr>
          <a:lstStyle/>
          <a:p>
            <a:pPr algn="ctr" rtl="0" fontAlgn="ctr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200" spc="0" u="none" cap="none">
                <a:solidFill>
                  <a:srgbClr val="FFFFFF">
                    <a:alpha val="100000"/>
                  </a:srgbClr>
                </a:solidFill>
                <a:latin typeface="Public Sans Light"/>
              </a:rPr>
              <a:t><![CDATA[Recette]]></a:t>
            </a:r>
          </a:p>
        </p:txBody>
      </p:sp>
      <p:sp>
        <p:nvSpPr>
          <p:cNvPr id="7" name="" descr=""/>
          <p:cNvSpPr/>
          <p:nvPr/>
        </p:nvSpPr>
        <p:spPr>
          <a:xfrm>
            <a:off x="381000" y="2286000"/>
            <a:ext cx="952500" cy="304800"/>
          </a:xfrm>
          <a:prstGeom prst="roundRect">
            <a:avLst/>
          </a:prstGeom>
          <a:solidFill>
            <a:srgbClr val="7F8C8D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8" name=""/>
          <p:cNvSpPr txBox="1"/>
          <p:nvPr/>
        </p:nvSpPr>
        <p:spPr>
          <a:xfrm>
            <a:off x="381000" y="2286000"/>
            <a:ext cx="952500" cy="304800"/>
          </a:xfrm>
          <a:prstGeom prst="rect">
            <a:avLst/>
          </a:prstGeom>
          <a:noFill/>
        </p:spPr>
        <p:txBody>
          <a:bodyPr anchor="ctr" anchorCtr="0" rtlCol="0" vert="horz" bIns="45720" lIns="91440" rIns="91440" tIns="45720">
            <a:spAutoFit/>
          </a:bodyPr>
          <a:lstStyle/>
          <a:p>
            <a:pPr algn="ctr" rtl="0" fontAlgn="ctr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200" spc="0" u="none" cap="none">
                <a:solidFill>
                  <a:srgbClr val="FFFFFF">
                    <a:alpha val="100000"/>
                  </a:srgbClr>
                </a:solidFill>
                <a:latin typeface="Public Sans Light"/>
              </a:rPr>
              <a:t><![CDATA[N/C]]></a:t>
            </a:r>
          </a:p>
        </p:txBody>
      </p:sp>
      <p:sp>
        <p:nvSpPr>
          <p:cNvPr id="9" name=""/>
          <p:cNvSpPr txBox="1"/>
          <p:nvPr/>
        </p:nvSpPr>
        <p:spPr>
          <a:xfrm>
            <a:off x="1905000" y="1333500"/>
            <a:ext cx="6667500" cy="8572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i="1" strike="noStrike" sz="1400" spc="0" u="none" cap="none">
                <a:solidFill>
                  <a:srgbClr val="7F8C8D">
                    <a:alpha val="100000"/>
                  </a:srgbClr>
                </a:solidFill>
                <a:latin typeface="Public Sans Light"/>
              </a:rPr>
              <a:t><![CDATA[Objectif non renseigné dans le ticket]]></a:t>
            </a:r>
          </a:p>
        </p:txBody>
      </p:sp>
      <p:sp>
        <p:nvSpPr>
          <p:cNvPr id="10" name=""/>
          <p:cNvSpPr txBox="1"/>
          <p:nvPr/>
        </p:nvSpPr>
        <p:spPr>
          <a:xfrm>
            <a:off x="1905000" y="2238375"/>
            <a:ext cx="6667500" cy="285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300" spc="0" u="none" cap="none">
                <a:solidFill>
                  <a:srgbClr val="000000">
                    <a:alpha val="100000"/>
                  </a:srgbClr>
                </a:solidFill>
                <a:latin typeface="Public Sans Light"/>
              </a:rPr>
              <a:t><![CDATA[Consommateurs : Non spécifié]]></a:t>
            </a:r>
          </a:p>
        </p:txBody>
      </p:sp>
      <p:sp>
        <p:nvSpPr>
          <p:cNvPr id="11" name=""/>
          <p:cNvSpPr txBox="1"/>
          <p:nvPr/>
        </p:nvSpPr>
        <p:spPr>
          <a:xfrm>
            <a:off x="1905000" y="2571750"/>
            <a:ext cx="6667500" cy="285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300" spc="0" u="none" cap="none">
                <a:solidFill>
                  <a:srgbClr val="000000">
                    <a:alpha val="100000"/>
                  </a:srgbClr>
                </a:solidFill>
                <a:latin typeface="Public Sans Light"/>
              </a:rPr>
              <a:t><![CDATA[OM : DRHB4A1]]></a:t>
            </a:r>
          </a:p>
        </p:txBody>
      </p:sp>
      <p:sp>
        <p:nvSpPr>
          <p:cNvPr id="12" name="" descr=""/>
          <p:cNvSpPr/>
          <p:nvPr/>
        </p:nvSpPr>
        <p:spPr>
          <a:xfrm>
            <a:off x="381000" y="3000375"/>
            <a:ext cx="8572500" cy="714375"/>
          </a:xfrm>
          <a:prstGeom prst="roundRect">
            <a:avLst/>
          </a:prstGeom>
          <a:solidFill>
            <a:srgbClr val="FFE6F2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3" name=""/>
          <p:cNvSpPr txBox="1"/>
          <p:nvPr/>
        </p:nvSpPr>
        <p:spPr>
          <a:xfrm>
            <a:off x="523875" y="3209925"/>
            <a:ext cx="8286750" cy="4762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000000">
                    <a:alpha val="100000"/>
                  </a:srgbClr>
                </a:solidFill>
                <a:latin typeface="Consolas"/>
              </a:rPr>
              <a:t><![CDATA[ /projects/PRD/HAS/DLK/trusted-zone/DATALAKE_RH/FRA]]></a:t>
            </a:r>
          </a:p>
        </p:txBody>
      </p:sp>
      <p:sp>
        <p:nvSpPr>
          <p:cNvPr id="14" name="" descr=""/>
          <p:cNvSpPr/>
          <p:nvPr/>
        </p:nvSpPr>
        <p:spPr>
          <a:xfrm>
            <a:off x="619125" y="2905125"/>
            <a:ext cx="714375" cy="209550"/>
          </a:xfrm>
          <a:prstGeom prst="round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5" name=""/>
          <p:cNvSpPr txBox="1"/>
          <p:nvPr/>
        </p:nvSpPr>
        <p:spPr>
          <a:xfrm>
            <a:off x="619125" y="2905125"/>
            <a:ext cx="714375" cy="209550"/>
          </a:xfrm>
          <a:prstGeom prst="rect">
            <a:avLst/>
          </a:prstGeom>
          <a:noFill/>
        </p:spPr>
        <p:txBody>
          <a:bodyPr anchor="ctr" anchorCtr="0" rtlCol="0" vert="horz" bIns="45720" lIns="91440" rIns="91440" tIns="45720">
            <a:spAutoFit/>
          </a:bodyPr>
          <a:lstStyle/>
          <a:p>
            <a:pPr algn="ctr" rtl="0" fontAlgn="ctr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100" spc="0" u="none" cap="none">
                <a:solidFill>
                  <a:srgbClr val="000000">
                    <a:alpha val="100000"/>
                  </a:srgbClr>
                </a:solidFill>
                <a:latin typeface="Enedis"/>
              </a:rPr>
              <a:t><![CDATA[PATH]]></a:t>
            </a:r>
          </a:p>
        </p:txBody>
      </p:sp>
      <p:sp>
        <p:nvSpPr>
          <p:cNvPr id="16" name="" descr=""/>
          <p:cNvSpPr/>
          <p:nvPr/>
        </p:nvSpPr>
        <p:spPr>
          <a:xfrm>
            <a:off x="381000" y="3905250"/>
            <a:ext cx="8572500" cy="714375"/>
          </a:xfrm>
          <a:prstGeom prst="roundRect">
            <a:avLst/>
          </a:prstGeom>
          <a:solidFill>
            <a:srgbClr val="F0E6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7" name=""/>
          <p:cNvSpPr txBox="1"/>
          <p:nvPr/>
        </p:nvSpPr>
        <p:spPr>
          <a:xfrm>
            <a:off x="523875" y="4114800"/>
            <a:ext cx="8286750" cy="4762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000000">
                    <a:alpha val="100000"/>
                  </a:srgbClr>
                </a:solidFill>
                <a:latin typeface="Consolas"/>
              </a:rPr>
              <a:t><![CDATA[datalake_rh_*]]></a:t>
            </a:r>
          </a:p>
        </p:txBody>
      </p:sp>
      <p:sp>
        <p:nvSpPr>
          <p:cNvPr id="18" name="" descr=""/>
          <p:cNvSpPr/>
          <p:nvPr/>
        </p:nvSpPr>
        <p:spPr>
          <a:xfrm>
            <a:off x="619125" y="3810000"/>
            <a:ext cx="714375" cy="209550"/>
          </a:xfrm>
          <a:prstGeom prst="round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9" name=""/>
          <p:cNvSpPr txBox="1"/>
          <p:nvPr/>
        </p:nvSpPr>
        <p:spPr>
          <a:xfrm>
            <a:off x="619125" y="3810000"/>
            <a:ext cx="714375" cy="209550"/>
          </a:xfrm>
          <a:prstGeom prst="rect">
            <a:avLst/>
          </a:prstGeom>
          <a:noFill/>
        </p:spPr>
        <p:txBody>
          <a:bodyPr anchor="ctr" anchorCtr="0" rtlCol="0" vert="horz" bIns="45720" lIns="91440" rIns="91440" tIns="45720">
            <a:spAutoFit/>
          </a:bodyPr>
          <a:lstStyle/>
          <a:p>
            <a:pPr algn="ctr" rtl="0" fontAlgn="ctr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100" spc="0" u="none" cap="none">
                <a:solidFill>
                  <a:srgbClr val="000000">
                    <a:alpha val="100000"/>
                  </a:srgbClr>
                </a:solidFill>
                <a:latin typeface="Enedis"/>
              </a:rPr>
              <a:t><![CDATA[HIVE]]></a:t>
            </a:r>
          </a:p>
        </p:txBody>
      </p:sp>
      <p:sp>
        <p:nvSpPr>
          <p:cNvPr id="20" name=""/>
          <p:cNvSpPr txBox="1"/>
          <p:nvPr/>
        </p:nvSpPr>
        <p:spPr>
          <a:xfrm>
            <a:off x="381000" y="4810125"/>
            <a:ext cx="2857500" cy="190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100" spc="0" u="none" cap="none">
                <a:solidFill>
                  <a:srgbClr val="1423DC">
                    <a:alpha val="100000"/>
                  </a:srgbClr>
                </a:solidFill>
                <a:latin typeface="Enedis"/>
              </a:rPr>
              <a:t><![CDATA[ENEDIS]]></a:t>
            </a:r>
          </a:p>
        </p:txBody>
      </p:sp>
      <p:sp>
        <p:nvSpPr>
          <p:cNvPr id="21" name=""/>
          <p:cNvSpPr txBox="1"/>
          <p:nvPr/>
        </p:nvSpPr>
        <p:spPr>
          <a:xfrm>
            <a:off x="4191000" y="4810125"/>
            <a:ext cx="4572000" cy="190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100" spc="0" u="none" cap="none">
                <a:solidFill>
                  <a:srgbClr val="595959">
                    <a:alpha val="100000"/>
                  </a:srgbClr>
                </a:solidFill>
                <a:latin typeface="Public Sans Light"/>
              </a:rPr>
              <a:t><![CDATA[B4A-34816  ·  Kenza (Dev)  ·  déduit de l'historique]]>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381000" y="285750"/>
          <a:ext cx="8953500" cy="5000625"/>
          <a:chOff x="381000" y="285750"/>
          <a:chExt cx="8953500" cy="5000625"/>
        </a:xfrm>
      </p:grpSpPr>
      <p:sp>
        <p:nvSpPr>
          <p:cNvPr id="2" name=""/>
          <p:cNvSpPr txBox="1"/>
          <p:nvPr/>
        </p:nvSpPr>
        <p:spPr>
          <a:xfrm>
            <a:off x="381000" y="285750"/>
            <a:ext cx="8572500" cy="381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400" spc="0" u="none" cap="none">
                <a:solidFill>
                  <a:srgbClr val="1423DC">
                    <a:alpha val="100000"/>
                  </a:srgbClr>
                </a:solidFill>
                <a:latin typeface="Enedis"/>
              </a:rPr>
              <a:t><![CDATA[SI ? – [API CASAI3C] Migrer de Spark2 vers Spark3]]></a:t>
            </a:r>
          </a:p>
        </p:txBody>
      </p:sp>
      <p:sp>
        <p:nvSpPr>
          <p:cNvPr id="3" name="" descr=""/>
          <p:cNvSpPr/>
          <p:nvPr/>
        </p:nvSpPr>
        <p:spPr>
          <a:xfrm>
            <a:off x="381000" y="1333500"/>
            <a:ext cx="952500" cy="304800"/>
          </a:xfrm>
          <a:prstGeom prst="roundRect">
            <a:avLst/>
          </a:prstGeom>
          <a:solidFill>
            <a:srgbClr val="1ABC9C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/>
          <p:cNvSpPr txBox="1"/>
          <p:nvPr/>
        </p:nvSpPr>
        <p:spPr>
          <a:xfrm>
            <a:off x="381000" y="1333500"/>
            <a:ext cx="952500" cy="304800"/>
          </a:xfrm>
          <a:prstGeom prst="rect">
            <a:avLst/>
          </a:prstGeom>
          <a:noFill/>
        </p:spPr>
        <p:txBody>
          <a:bodyPr anchor="ctr" anchorCtr="0" rtlCol="0" vert="horz" bIns="45720" lIns="91440" rIns="91440" tIns="45720">
            <a:spAutoFit/>
          </a:bodyPr>
          <a:lstStyle/>
          <a:p>
            <a:pPr algn="ctr" rtl="0" fontAlgn="ctr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200" spc="0" u="none" cap="none">
                <a:solidFill>
                  <a:srgbClr val="FFFFFF">
                    <a:alpha val="100000"/>
                  </a:srgbClr>
                </a:solidFill>
                <a:latin typeface="Public Sans Light"/>
              </a:rPr>
              <a:t><![CDATA[Evolution]]></a:t>
            </a:r>
          </a:p>
        </p:txBody>
      </p:sp>
      <p:sp>
        <p:nvSpPr>
          <p:cNvPr id="5" name="" descr=""/>
          <p:cNvSpPr/>
          <p:nvPr/>
        </p:nvSpPr>
        <p:spPr>
          <a:xfrm>
            <a:off x="381000" y="1762125"/>
            <a:ext cx="952500" cy="304800"/>
          </a:xfrm>
          <a:prstGeom prst="roundRect">
            <a:avLst/>
          </a:prstGeom>
          <a:solidFill>
            <a:srgbClr val="7F8C8D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/>
          <p:cNvSpPr txBox="1"/>
          <p:nvPr/>
        </p:nvSpPr>
        <p:spPr>
          <a:xfrm>
            <a:off x="381000" y="1762125"/>
            <a:ext cx="952500" cy="304800"/>
          </a:xfrm>
          <a:prstGeom prst="rect">
            <a:avLst/>
          </a:prstGeom>
          <a:noFill/>
        </p:spPr>
        <p:txBody>
          <a:bodyPr anchor="ctr" anchorCtr="0" rtlCol="0" vert="horz" bIns="45720" lIns="91440" rIns="91440" tIns="45720">
            <a:spAutoFit/>
          </a:bodyPr>
          <a:lstStyle/>
          <a:p>
            <a:pPr algn="ctr" rtl="0" fontAlgn="ctr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200" spc="0" u="none" cap="none">
                <a:solidFill>
                  <a:srgbClr val="FFFFFF">
                    <a:alpha val="100000"/>
                  </a:srgbClr>
                </a:solidFill>
                <a:latin typeface="Public Sans Light"/>
              </a:rPr>
              <a:t><![CDATA[Terminé]]></a:t>
            </a:r>
          </a:p>
        </p:txBody>
      </p:sp>
      <p:sp>
        <p:nvSpPr>
          <p:cNvPr id="7" name="" descr=""/>
          <p:cNvSpPr/>
          <p:nvPr/>
        </p:nvSpPr>
        <p:spPr>
          <a:xfrm>
            <a:off x="381000" y="2286000"/>
            <a:ext cx="952500" cy="304800"/>
          </a:xfrm>
          <a:prstGeom prst="roundRect">
            <a:avLst/>
          </a:prstGeom>
          <a:solidFill>
            <a:srgbClr val="7F8C8D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8" name=""/>
          <p:cNvSpPr txBox="1"/>
          <p:nvPr/>
        </p:nvSpPr>
        <p:spPr>
          <a:xfrm>
            <a:off x="381000" y="2286000"/>
            <a:ext cx="952500" cy="304800"/>
          </a:xfrm>
          <a:prstGeom prst="rect">
            <a:avLst/>
          </a:prstGeom>
          <a:noFill/>
        </p:spPr>
        <p:txBody>
          <a:bodyPr anchor="ctr" anchorCtr="0" rtlCol="0" vert="horz" bIns="45720" lIns="91440" rIns="91440" tIns="45720">
            <a:spAutoFit/>
          </a:bodyPr>
          <a:lstStyle/>
          <a:p>
            <a:pPr algn="ctr" rtl="0" fontAlgn="ctr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200" spc="0" u="none" cap="none">
                <a:solidFill>
                  <a:srgbClr val="FFFFFF">
                    <a:alpha val="100000"/>
                  </a:srgbClr>
                </a:solidFill>
                <a:latin typeface="Public Sans Light"/>
              </a:rPr>
              <a:t><![CDATA[N/C]]></a:t>
            </a:r>
          </a:p>
        </p:txBody>
      </p:sp>
      <p:sp>
        <p:nvSpPr>
          <p:cNvPr id="9" name=""/>
          <p:cNvSpPr txBox="1"/>
          <p:nvPr/>
        </p:nvSpPr>
        <p:spPr>
          <a:xfrm>
            <a:off x="1905000" y="1333500"/>
            <a:ext cx="6667500" cy="8572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i="1" strike="noStrike" sz="1400" spc="0" u="none" cap="none">
                <a:solidFill>
                  <a:srgbClr val="7F8C8D">
                    <a:alpha val="100000"/>
                  </a:srgbClr>
                </a:solidFill>
                <a:latin typeface="Public Sans Light"/>
              </a:rPr>
              <a:t><![CDATA[Objectif non renseigné dans le ticket]]></a:t>
            </a:r>
          </a:p>
        </p:txBody>
      </p:sp>
      <p:sp>
        <p:nvSpPr>
          <p:cNvPr id="10" name=""/>
          <p:cNvSpPr txBox="1"/>
          <p:nvPr/>
        </p:nvSpPr>
        <p:spPr>
          <a:xfrm>
            <a:off x="1905000" y="2238375"/>
            <a:ext cx="6667500" cy="285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300" spc="0" u="none" cap="none">
                <a:solidFill>
                  <a:srgbClr val="000000">
                    <a:alpha val="100000"/>
                  </a:srgbClr>
                </a:solidFill>
                <a:latin typeface="Public Sans Light"/>
              </a:rPr>
              <a:t><![CDATA[Consommateurs : Non spécifié]]></a:t>
            </a:r>
          </a:p>
        </p:txBody>
      </p:sp>
      <p:sp>
        <p:nvSpPr>
          <p:cNvPr id="11" name=""/>
          <p:cNvSpPr txBox="1"/>
          <p:nvPr/>
        </p:nvSpPr>
        <p:spPr>
          <a:xfrm>
            <a:off x="1905000" y="2571750"/>
            <a:ext cx="6667500" cy="285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300" spc="0" u="none" cap="none">
                <a:solidFill>
                  <a:srgbClr val="000000">
                    <a:alpha val="100000"/>
                  </a:srgbClr>
                </a:solidFill>
                <a:latin typeface="Public Sans Light"/>
              </a:rPr>
              <a:t><![CDATA[OM : Non spécifié]]></a:t>
            </a:r>
          </a:p>
        </p:txBody>
      </p:sp>
      <p:sp>
        <p:nvSpPr>
          <p:cNvPr id="12" name="" descr=""/>
          <p:cNvSpPr/>
          <p:nvPr/>
        </p:nvSpPr>
        <p:spPr>
          <a:xfrm>
            <a:off x="381000" y="3000375"/>
            <a:ext cx="8572500" cy="714375"/>
          </a:xfrm>
          <a:prstGeom prst="roundRect">
            <a:avLst/>
          </a:prstGeom>
          <a:solidFill>
            <a:srgbClr val="FFE6F2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3" name=""/>
          <p:cNvSpPr txBox="1"/>
          <p:nvPr/>
        </p:nvSpPr>
        <p:spPr>
          <a:xfrm>
            <a:off x="523875" y="3209925"/>
            <a:ext cx="8286750" cy="4762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i="1" strike="noStrike" sz="1200" spc="0" u="none" cap="none">
                <a:solidFill>
                  <a:srgbClr val="7F8C8D">
                    <a:alpha val="100000"/>
                  </a:srgbClr>
                </a:solidFill>
                <a:latin typeface="Consolas"/>
              </a:rPr>
              <a:t><![CDATA[Non renseigné]]></a:t>
            </a:r>
          </a:p>
        </p:txBody>
      </p:sp>
      <p:sp>
        <p:nvSpPr>
          <p:cNvPr id="14" name="" descr=""/>
          <p:cNvSpPr/>
          <p:nvPr/>
        </p:nvSpPr>
        <p:spPr>
          <a:xfrm>
            <a:off x="619125" y="2905125"/>
            <a:ext cx="714375" cy="209550"/>
          </a:xfrm>
          <a:prstGeom prst="round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5" name=""/>
          <p:cNvSpPr txBox="1"/>
          <p:nvPr/>
        </p:nvSpPr>
        <p:spPr>
          <a:xfrm>
            <a:off x="619125" y="2905125"/>
            <a:ext cx="714375" cy="209550"/>
          </a:xfrm>
          <a:prstGeom prst="rect">
            <a:avLst/>
          </a:prstGeom>
          <a:noFill/>
        </p:spPr>
        <p:txBody>
          <a:bodyPr anchor="ctr" anchorCtr="0" rtlCol="0" vert="horz" bIns="45720" lIns="91440" rIns="91440" tIns="45720">
            <a:spAutoFit/>
          </a:bodyPr>
          <a:lstStyle/>
          <a:p>
            <a:pPr algn="ctr" rtl="0" fontAlgn="ctr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100" spc="0" u="none" cap="none">
                <a:solidFill>
                  <a:srgbClr val="000000">
                    <a:alpha val="100000"/>
                  </a:srgbClr>
                </a:solidFill>
                <a:latin typeface="Enedis"/>
              </a:rPr>
              <a:t><![CDATA[PATH]]></a:t>
            </a:r>
          </a:p>
        </p:txBody>
      </p:sp>
      <p:sp>
        <p:nvSpPr>
          <p:cNvPr id="16" name="" descr=""/>
          <p:cNvSpPr/>
          <p:nvPr/>
        </p:nvSpPr>
        <p:spPr>
          <a:xfrm>
            <a:off x="381000" y="3905250"/>
            <a:ext cx="8572500" cy="714375"/>
          </a:xfrm>
          <a:prstGeom prst="roundRect">
            <a:avLst/>
          </a:prstGeom>
          <a:solidFill>
            <a:srgbClr val="F0E6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7" name=""/>
          <p:cNvSpPr txBox="1"/>
          <p:nvPr/>
        </p:nvSpPr>
        <p:spPr>
          <a:xfrm>
            <a:off x="523875" y="4114800"/>
            <a:ext cx="8286750" cy="4762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i="1" strike="noStrike" sz="1200" spc="0" u="none" cap="none">
                <a:solidFill>
                  <a:srgbClr val="7F8C8D">
                    <a:alpha val="100000"/>
                  </a:srgbClr>
                </a:solidFill>
                <a:latin typeface="Consolas"/>
              </a:rPr>
              <a:t><![CDATA[Non renseigné]]></a:t>
            </a:r>
          </a:p>
        </p:txBody>
      </p:sp>
      <p:sp>
        <p:nvSpPr>
          <p:cNvPr id="18" name="" descr=""/>
          <p:cNvSpPr/>
          <p:nvPr/>
        </p:nvSpPr>
        <p:spPr>
          <a:xfrm>
            <a:off x="619125" y="3810000"/>
            <a:ext cx="714375" cy="209550"/>
          </a:xfrm>
          <a:prstGeom prst="round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9" name=""/>
          <p:cNvSpPr txBox="1"/>
          <p:nvPr/>
        </p:nvSpPr>
        <p:spPr>
          <a:xfrm>
            <a:off x="619125" y="3810000"/>
            <a:ext cx="714375" cy="209550"/>
          </a:xfrm>
          <a:prstGeom prst="rect">
            <a:avLst/>
          </a:prstGeom>
          <a:noFill/>
        </p:spPr>
        <p:txBody>
          <a:bodyPr anchor="ctr" anchorCtr="0" rtlCol="0" vert="horz" bIns="45720" lIns="91440" rIns="91440" tIns="45720">
            <a:spAutoFit/>
          </a:bodyPr>
          <a:lstStyle/>
          <a:p>
            <a:pPr algn="ctr" rtl="0" fontAlgn="ctr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100" spc="0" u="none" cap="none">
                <a:solidFill>
                  <a:srgbClr val="000000">
                    <a:alpha val="100000"/>
                  </a:srgbClr>
                </a:solidFill>
                <a:latin typeface="Enedis"/>
              </a:rPr>
              <a:t><![CDATA[HIVE]]></a:t>
            </a:r>
          </a:p>
        </p:txBody>
      </p:sp>
      <p:sp>
        <p:nvSpPr>
          <p:cNvPr id="20" name=""/>
          <p:cNvSpPr txBox="1"/>
          <p:nvPr/>
        </p:nvSpPr>
        <p:spPr>
          <a:xfrm>
            <a:off x="381000" y="4810125"/>
            <a:ext cx="2857500" cy="190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100" spc="0" u="none" cap="none">
                <a:solidFill>
                  <a:srgbClr val="1423DC">
                    <a:alpha val="100000"/>
                  </a:srgbClr>
                </a:solidFill>
                <a:latin typeface="Enedis"/>
              </a:rPr>
              <a:t><![CDATA[ENEDIS]]></a:t>
            </a:r>
          </a:p>
        </p:txBody>
      </p:sp>
      <p:sp>
        <p:nvSpPr>
          <p:cNvPr id="21" name=""/>
          <p:cNvSpPr txBox="1"/>
          <p:nvPr/>
        </p:nvSpPr>
        <p:spPr>
          <a:xfrm>
            <a:off x="4191000" y="4810125"/>
            <a:ext cx="4572000" cy="190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100" spc="0" u="none" cap="none">
                <a:solidFill>
                  <a:srgbClr val="595959">
                    <a:alpha val="100000"/>
                  </a:srgbClr>
                </a:solidFill>
                <a:latin typeface="Public Sans Light"/>
              </a:rPr>
              <a:t><![CDATA[B4A-39461  ·  Kenza (Dev)  ·  déduit de l'historique]]>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381000" y="285750"/>
          <a:ext cx="8953500" cy="5000625"/>
          <a:chOff x="381000" y="285750"/>
          <a:chExt cx="8953500" cy="5000625"/>
        </a:xfrm>
      </p:grpSpPr>
      <p:sp>
        <p:nvSpPr>
          <p:cNvPr id="2" name=""/>
          <p:cNvSpPr txBox="1"/>
          <p:nvPr/>
        </p:nvSpPr>
        <p:spPr>
          <a:xfrm>
            <a:off x="381000" y="285750"/>
            <a:ext cx="8572500" cy="381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400" spc="0" u="none" cap="none">
                <a:solidFill>
                  <a:srgbClr val="1423DC">
                    <a:alpha val="100000"/>
                  </a:srgbClr>
                </a:solidFill>
                <a:latin typeface="Enedis"/>
              </a:rPr>
              <a:t><![CDATA[SI ? – Flow report weekly: déplacer les flux non quotidiens dedans]]></a:t>
            </a:r>
          </a:p>
        </p:txBody>
      </p:sp>
      <p:sp>
        <p:nvSpPr>
          <p:cNvPr id="3" name="" descr=""/>
          <p:cNvSpPr/>
          <p:nvPr/>
        </p:nvSpPr>
        <p:spPr>
          <a:xfrm>
            <a:off x="381000" y="1333500"/>
            <a:ext cx="952500" cy="304800"/>
          </a:xfrm>
          <a:prstGeom prst="roundRect">
            <a:avLst/>
          </a:prstGeom>
          <a:solidFill>
            <a:srgbClr val="1ABC9C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/>
          <p:cNvSpPr txBox="1"/>
          <p:nvPr/>
        </p:nvSpPr>
        <p:spPr>
          <a:xfrm>
            <a:off x="381000" y="1333500"/>
            <a:ext cx="952500" cy="304800"/>
          </a:xfrm>
          <a:prstGeom prst="rect">
            <a:avLst/>
          </a:prstGeom>
          <a:noFill/>
        </p:spPr>
        <p:txBody>
          <a:bodyPr anchor="ctr" anchorCtr="0" rtlCol="0" vert="horz" bIns="45720" lIns="91440" rIns="91440" tIns="45720">
            <a:spAutoFit/>
          </a:bodyPr>
          <a:lstStyle/>
          <a:p>
            <a:pPr algn="ctr" rtl="0" fontAlgn="ctr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200" spc="0" u="none" cap="none">
                <a:solidFill>
                  <a:srgbClr val="FFFFFF">
                    <a:alpha val="100000"/>
                  </a:srgbClr>
                </a:solidFill>
                <a:latin typeface="Public Sans Light"/>
              </a:rPr>
              <a:t><![CDATA[Evolution]]></a:t>
            </a:r>
          </a:p>
        </p:txBody>
      </p:sp>
      <p:sp>
        <p:nvSpPr>
          <p:cNvPr id="5" name="" descr=""/>
          <p:cNvSpPr/>
          <p:nvPr/>
        </p:nvSpPr>
        <p:spPr>
          <a:xfrm>
            <a:off x="381000" y="1762125"/>
            <a:ext cx="952500" cy="304800"/>
          </a:xfrm>
          <a:prstGeom prst="roundRect">
            <a:avLst/>
          </a:prstGeom>
          <a:solidFill>
            <a:srgbClr val="7F8C8D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/>
          <p:cNvSpPr txBox="1"/>
          <p:nvPr/>
        </p:nvSpPr>
        <p:spPr>
          <a:xfrm>
            <a:off x="381000" y="1762125"/>
            <a:ext cx="952500" cy="304800"/>
          </a:xfrm>
          <a:prstGeom prst="rect">
            <a:avLst/>
          </a:prstGeom>
          <a:noFill/>
        </p:spPr>
        <p:txBody>
          <a:bodyPr anchor="ctr" anchorCtr="0" rtlCol="0" vert="horz" bIns="45720" lIns="91440" rIns="91440" tIns="45720">
            <a:spAutoFit/>
          </a:bodyPr>
          <a:lstStyle/>
          <a:p>
            <a:pPr algn="ctr" rtl="0" fontAlgn="ctr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200" spc="0" u="none" cap="none">
                <a:solidFill>
                  <a:srgbClr val="FFFFFF">
                    <a:alpha val="100000"/>
                  </a:srgbClr>
                </a:solidFill>
                <a:latin typeface="Public Sans Light"/>
              </a:rPr>
              <a:t><![CDATA[Terminé]]></a:t>
            </a:r>
          </a:p>
        </p:txBody>
      </p:sp>
      <p:sp>
        <p:nvSpPr>
          <p:cNvPr id="7" name="" descr=""/>
          <p:cNvSpPr/>
          <p:nvPr/>
        </p:nvSpPr>
        <p:spPr>
          <a:xfrm>
            <a:off x="381000" y="2286000"/>
            <a:ext cx="952500" cy="304800"/>
          </a:xfrm>
          <a:prstGeom prst="roundRect">
            <a:avLst/>
          </a:prstGeom>
          <a:solidFill>
            <a:srgbClr val="7F8C8D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8" name=""/>
          <p:cNvSpPr txBox="1"/>
          <p:nvPr/>
        </p:nvSpPr>
        <p:spPr>
          <a:xfrm>
            <a:off x="381000" y="2286000"/>
            <a:ext cx="952500" cy="304800"/>
          </a:xfrm>
          <a:prstGeom prst="rect">
            <a:avLst/>
          </a:prstGeom>
          <a:noFill/>
        </p:spPr>
        <p:txBody>
          <a:bodyPr anchor="ctr" anchorCtr="0" rtlCol="0" vert="horz" bIns="45720" lIns="91440" rIns="91440" tIns="45720">
            <a:spAutoFit/>
          </a:bodyPr>
          <a:lstStyle/>
          <a:p>
            <a:pPr algn="ctr" rtl="0" fontAlgn="ctr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200" spc="0" u="none" cap="none">
                <a:solidFill>
                  <a:srgbClr val="FFFFFF">
                    <a:alpha val="100000"/>
                  </a:srgbClr>
                </a:solidFill>
                <a:latin typeface="Public Sans Light"/>
              </a:rPr>
              <a:t><![CDATA[N/C]]></a:t>
            </a:r>
          </a:p>
        </p:txBody>
      </p:sp>
      <p:sp>
        <p:nvSpPr>
          <p:cNvPr id="9" name=""/>
          <p:cNvSpPr txBox="1"/>
          <p:nvPr/>
        </p:nvSpPr>
        <p:spPr>
          <a:xfrm>
            <a:off x="1905000" y="1333500"/>
            <a:ext cx="6667500" cy="8572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i="1" strike="noStrike" sz="1400" spc="0" u="none" cap="none">
                <a:solidFill>
                  <a:srgbClr val="7F8C8D">
                    <a:alpha val="100000"/>
                  </a:srgbClr>
                </a:solidFill>
                <a:latin typeface="Public Sans Light"/>
              </a:rPr>
              <a:t><![CDATA[Objectif non renseigné dans le ticket]]></a:t>
            </a:r>
          </a:p>
        </p:txBody>
      </p:sp>
      <p:sp>
        <p:nvSpPr>
          <p:cNvPr id="10" name=""/>
          <p:cNvSpPr txBox="1"/>
          <p:nvPr/>
        </p:nvSpPr>
        <p:spPr>
          <a:xfrm>
            <a:off x="1905000" y="2238375"/>
            <a:ext cx="6667500" cy="285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300" spc="0" u="none" cap="none">
                <a:solidFill>
                  <a:srgbClr val="000000">
                    <a:alpha val="100000"/>
                  </a:srgbClr>
                </a:solidFill>
                <a:latin typeface="Public Sans Light"/>
              </a:rPr>
              <a:t><![CDATA[Consommateurs : Non spécifié]]></a:t>
            </a:r>
          </a:p>
        </p:txBody>
      </p:sp>
      <p:sp>
        <p:nvSpPr>
          <p:cNvPr id="11" name=""/>
          <p:cNvSpPr txBox="1"/>
          <p:nvPr/>
        </p:nvSpPr>
        <p:spPr>
          <a:xfrm>
            <a:off x="1905000" y="2571750"/>
            <a:ext cx="6667500" cy="285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300" spc="0" u="none" cap="none">
                <a:solidFill>
                  <a:srgbClr val="000000">
                    <a:alpha val="100000"/>
                  </a:srgbClr>
                </a:solidFill>
                <a:latin typeface="Public Sans Light"/>
              </a:rPr>
              <a:t><![CDATA[OM : Non spécifié]]></a:t>
            </a:r>
          </a:p>
        </p:txBody>
      </p:sp>
      <p:sp>
        <p:nvSpPr>
          <p:cNvPr id="12" name="" descr=""/>
          <p:cNvSpPr/>
          <p:nvPr/>
        </p:nvSpPr>
        <p:spPr>
          <a:xfrm>
            <a:off x="381000" y="3000375"/>
            <a:ext cx="8572500" cy="714375"/>
          </a:xfrm>
          <a:prstGeom prst="roundRect">
            <a:avLst/>
          </a:prstGeom>
          <a:solidFill>
            <a:srgbClr val="FFE6F2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3" name=""/>
          <p:cNvSpPr txBox="1"/>
          <p:nvPr/>
        </p:nvSpPr>
        <p:spPr>
          <a:xfrm>
            <a:off x="523875" y="3209925"/>
            <a:ext cx="8286750" cy="4762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i="1" strike="noStrike" sz="1200" spc="0" u="none" cap="none">
                <a:solidFill>
                  <a:srgbClr val="7F8C8D">
                    <a:alpha val="100000"/>
                  </a:srgbClr>
                </a:solidFill>
                <a:latin typeface="Consolas"/>
              </a:rPr>
              <a:t><![CDATA[Non renseigné]]></a:t>
            </a:r>
          </a:p>
        </p:txBody>
      </p:sp>
      <p:sp>
        <p:nvSpPr>
          <p:cNvPr id="14" name="" descr=""/>
          <p:cNvSpPr/>
          <p:nvPr/>
        </p:nvSpPr>
        <p:spPr>
          <a:xfrm>
            <a:off x="619125" y="2905125"/>
            <a:ext cx="714375" cy="209550"/>
          </a:xfrm>
          <a:prstGeom prst="round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5" name=""/>
          <p:cNvSpPr txBox="1"/>
          <p:nvPr/>
        </p:nvSpPr>
        <p:spPr>
          <a:xfrm>
            <a:off x="619125" y="2905125"/>
            <a:ext cx="714375" cy="209550"/>
          </a:xfrm>
          <a:prstGeom prst="rect">
            <a:avLst/>
          </a:prstGeom>
          <a:noFill/>
        </p:spPr>
        <p:txBody>
          <a:bodyPr anchor="ctr" anchorCtr="0" rtlCol="0" vert="horz" bIns="45720" lIns="91440" rIns="91440" tIns="45720">
            <a:spAutoFit/>
          </a:bodyPr>
          <a:lstStyle/>
          <a:p>
            <a:pPr algn="ctr" rtl="0" fontAlgn="ctr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100" spc="0" u="none" cap="none">
                <a:solidFill>
                  <a:srgbClr val="000000">
                    <a:alpha val="100000"/>
                  </a:srgbClr>
                </a:solidFill>
                <a:latin typeface="Enedis"/>
              </a:rPr>
              <a:t><![CDATA[PATH]]></a:t>
            </a:r>
          </a:p>
        </p:txBody>
      </p:sp>
      <p:sp>
        <p:nvSpPr>
          <p:cNvPr id="16" name="" descr=""/>
          <p:cNvSpPr/>
          <p:nvPr/>
        </p:nvSpPr>
        <p:spPr>
          <a:xfrm>
            <a:off x="381000" y="3905250"/>
            <a:ext cx="8572500" cy="714375"/>
          </a:xfrm>
          <a:prstGeom prst="roundRect">
            <a:avLst/>
          </a:prstGeom>
          <a:solidFill>
            <a:srgbClr val="F0E6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7" name=""/>
          <p:cNvSpPr txBox="1"/>
          <p:nvPr/>
        </p:nvSpPr>
        <p:spPr>
          <a:xfrm>
            <a:off x="523875" y="4114800"/>
            <a:ext cx="8286750" cy="4762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i="1" strike="noStrike" sz="1200" spc="0" u="none" cap="none">
                <a:solidFill>
                  <a:srgbClr val="7F8C8D">
                    <a:alpha val="100000"/>
                  </a:srgbClr>
                </a:solidFill>
                <a:latin typeface="Consolas"/>
              </a:rPr>
              <a:t><![CDATA[Non renseigné]]></a:t>
            </a:r>
          </a:p>
        </p:txBody>
      </p:sp>
      <p:sp>
        <p:nvSpPr>
          <p:cNvPr id="18" name="" descr=""/>
          <p:cNvSpPr/>
          <p:nvPr/>
        </p:nvSpPr>
        <p:spPr>
          <a:xfrm>
            <a:off x="619125" y="3810000"/>
            <a:ext cx="714375" cy="209550"/>
          </a:xfrm>
          <a:prstGeom prst="round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9" name=""/>
          <p:cNvSpPr txBox="1"/>
          <p:nvPr/>
        </p:nvSpPr>
        <p:spPr>
          <a:xfrm>
            <a:off x="619125" y="3810000"/>
            <a:ext cx="714375" cy="209550"/>
          </a:xfrm>
          <a:prstGeom prst="rect">
            <a:avLst/>
          </a:prstGeom>
          <a:noFill/>
        </p:spPr>
        <p:txBody>
          <a:bodyPr anchor="ctr" anchorCtr="0" rtlCol="0" vert="horz" bIns="45720" lIns="91440" rIns="91440" tIns="45720">
            <a:spAutoFit/>
          </a:bodyPr>
          <a:lstStyle/>
          <a:p>
            <a:pPr algn="ctr" rtl="0" fontAlgn="ctr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100" spc="0" u="none" cap="none">
                <a:solidFill>
                  <a:srgbClr val="000000">
                    <a:alpha val="100000"/>
                  </a:srgbClr>
                </a:solidFill>
                <a:latin typeface="Enedis"/>
              </a:rPr>
              <a:t><![CDATA[HIVE]]></a:t>
            </a:r>
          </a:p>
        </p:txBody>
      </p:sp>
      <p:sp>
        <p:nvSpPr>
          <p:cNvPr id="20" name=""/>
          <p:cNvSpPr txBox="1"/>
          <p:nvPr/>
        </p:nvSpPr>
        <p:spPr>
          <a:xfrm>
            <a:off x="381000" y="4810125"/>
            <a:ext cx="2857500" cy="190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100" spc="0" u="none" cap="none">
                <a:solidFill>
                  <a:srgbClr val="1423DC">
                    <a:alpha val="100000"/>
                  </a:srgbClr>
                </a:solidFill>
                <a:latin typeface="Enedis"/>
              </a:rPr>
              <a:t><![CDATA[ENEDIS]]></a:t>
            </a:r>
          </a:p>
        </p:txBody>
      </p:sp>
      <p:sp>
        <p:nvSpPr>
          <p:cNvPr id="21" name=""/>
          <p:cNvSpPr txBox="1"/>
          <p:nvPr/>
        </p:nvSpPr>
        <p:spPr>
          <a:xfrm>
            <a:off x="4191000" y="4810125"/>
            <a:ext cx="4572000" cy="190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100" spc="0" u="none" cap="none">
                <a:solidFill>
                  <a:srgbClr val="595959">
                    <a:alpha val="100000"/>
                  </a:srgbClr>
                </a:solidFill>
                <a:latin typeface="Public Sans Light"/>
              </a:rPr>
              <a:t><![CDATA[B4A-39287  ·  Ting (Dev)  ·  déduit de l'historique]]>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381000" y="285750"/>
          <a:ext cx="8953500" cy="5000625"/>
          <a:chOff x="381000" y="285750"/>
          <a:chExt cx="8953500" cy="5000625"/>
        </a:xfrm>
      </p:grpSpPr>
      <p:sp>
        <p:nvSpPr>
          <p:cNvPr id="2" name=""/>
          <p:cNvSpPr txBox="1"/>
          <p:nvPr/>
        </p:nvSpPr>
        <p:spPr>
          <a:xfrm>
            <a:off x="381000" y="285750"/>
            <a:ext cx="8572500" cy="381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400" spc="0" u="none" cap="none">
                <a:solidFill>
                  <a:srgbClr val="1423DC">
                    <a:alpha val="100000"/>
                  </a:srgbClr>
                </a:solidFill>
                <a:latin typeface="Enedis"/>
              </a:rPr>
              <a:t><![CDATA[SI ? – Montée de version F2L sur la 5r]]></a:t>
            </a:r>
          </a:p>
        </p:txBody>
      </p:sp>
      <p:sp>
        <p:nvSpPr>
          <p:cNvPr id="3" name="" descr=""/>
          <p:cNvSpPr/>
          <p:nvPr/>
        </p:nvSpPr>
        <p:spPr>
          <a:xfrm>
            <a:off x="381000" y="1333500"/>
            <a:ext cx="952500" cy="304800"/>
          </a:xfrm>
          <a:prstGeom prst="roundRect">
            <a:avLst/>
          </a:prstGeom>
          <a:solidFill>
            <a:srgbClr val="1ABC9C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/>
          <p:cNvSpPr txBox="1"/>
          <p:nvPr/>
        </p:nvSpPr>
        <p:spPr>
          <a:xfrm>
            <a:off x="381000" y="1333500"/>
            <a:ext cx="952500" cy="304800"/>
          </a:xfrm>
          <a:prstGeom prst="rect">
            <a:avLst/>
          </a:prstGeom>
          <a:noFill/>
        </p:spPr>
        <p:txBody>
          <a:bodyPr anchor="ctr" anchorCtr="0" rtlCol="0" vert="horz" bIns="45720" lIns="91440" rIns="91440" tIns="45720">
            <a:spAutoFit/>
          </a:bodyPr>
          <a:lstStyle/>
          <a:p>
            <a:pPr algn="ctr" rtl="0" fontAlgn="ctr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200" spc="0" u="none" cap="none">
                <a:solidFill>
                  <a:srgbClr val="FFFFFF">
                    <a:alpha val="100000"/>
                  </a:srgbClr>
                </a:solidFill>
                <a:latin typeface="Public Sans Light"/>
              </a:rPr>
              <a:t><![CDATA[Evolution]]></a:t>
            </a:r>
          </a:p>
        </p:txBody>
      </p:sp>
      <p:sp>
        <p:nvSpPr>
          <p:cNvPr id="5" name="" descr=""/>
          <p:cNvSpPr/>
          <p:nvPr/>
        </p:nvSpPr>
        <p:spPr>
          <a:xfrm>
            <a:off x="381000" y="1762125"/>
            <a:ext cx="952500" cy="304800"/>
          </a:xfrm>
          <a:prstGeom prst="roundRect">
            <a:avLst/>
          </a:prstGeom>
          <a:solidFill>
            <a:srgbClr val="8E44AD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/>
          <p:cNvSpPr txBox="1"/>
          <p:nvPr/>
        </p:nvSpPr>
        <p:spPr>
          <a:xfrm>
            <a:off x="381000" y="1762125"/>
            <a:ext cx="952500" cy="304800"/>
          </a:xfrm>
          <a:prstGeom prst="rect">
            <a:avLst/>
          </a:prstGeom>
          <a:noFill/>
        </p:spPr>
        <p:txBody>
          <a:bodyPr anchor="ctr" anchorCtr="0" rtlCol="0" vert="horz" bIns="45720" lIns="91440" rIns="91440" tIns="45720">
            <a:spAutoFit/>
          </a:bodyPr>
          <a:lstStyle/>
          <a:p>
            <a:pPr algn="ctr" rtl="0" fontAlgn="ctr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200" spc="0" u="none" cap="none">
                <a:solidFill>
                  <a:srgbClr val="FFFFFF">
                    <a:alpha val="100000"/>
                  </a:srgbClr>
                </a:solidFill>
                <a:latin typeface="Public Sans Light"/>
              </a:rPr>
              <a:t><![CDATA[Recette]]></a:t>
            </a:r>
          </a:p>
        </p:txBody>
      </p:sp>
      <p:sp>
        <p:nvSpPr>
          <p:cNvPr id="7" name="" descr=""/>
          <p:cNvSpPr/>
          <p:nvPr/>
        </p:nvSpPr>
        <p:spPr>
          <a:xfrm>
            <a:off x="381000" y="2286000"/>
            <a:ext cx="952500" cy="304800"/>
          </a:xfrm>
          <a:prstGeom prst="roundRect">
            <a:avLst/>
          </a:prstGeom>
          <a:solidFill>
            <a:srgbClr val="7F8C8D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8" name=""/>
          <p:cNvSpPr txBox="1"/>
          <p:nvPr/>
        </p:nvSpPr>
        <p:spPr>
          <a:xfrm>
            <a:off x="381000" y="2286000"/>
            <a:ext cx="952500" cy="304800"/>
          </a:xfrm>
          <a:prstGeom prst="rect">
            <a:avLst/>
          </a:prstGeom>
          <a:noFill/>
        </p:spPr>
        <p:txBody>
          <a:bodyPr anchor="ctr" anchorCtr="0" rtlCol="0" vert="horz" bIns="45720" lIns="91440" rIns="91440" tIns="45720">
            <a:spAutoFit/>
          </a:bodyPr>
          <a:lstStyle/>
          <a:p>
            <a:pPr algn="ctr" rtl="0" fontAlgn="ctr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200" spc="0" u="none" cap="none">
                <a:solidFill>
                  <a:srgbClr val="FFFFFF">
                    <a:alpha val="100000"/>
                  </a:srgbClr>
                </a:solidFill>
                <a:latin typeface="Public Sans Light"/>
              </a:rPr>
              <a:t><![CDATA[N/C]]></a:t>
            </a:r>
          </a:p>
        </p:txBody>
      </p:sp>
      <p:sp>
        <p:nvSpPr>
          <p:cNvPr id="9" name=""/>
          <p:cNvSpPr txBox="1"/>
          <p:nvPr/>
        </p:nvSpPr>
        <p:spPr>
          <a:xfrm>
            <a:off x="1905000" y="1333500"/>
            <a:ext cx="6667500" cy="8572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i="1" strike="noStrike" sz="1400" spc="0" u="none" cap="none">
                <a:solidFill>
                  <a:srgbClr val="7F8C8D">
                    <a:alpha val="100000"/>
                  </a:srgbClr>
                </a:solidFill>
                <a:latin typeface="Public Sans Light"/>
              </a:rPr>
              <a:t><![CDATA[Objectif non renseigné dans le ticket]]></a:t>
            </a:r>
          </a:p>
        </p:txBody>
      </p:sp>
      <p:sp>
        <p:nvSpPr>
          <p:cNvPr id="10" name=""/>
          <p:cNvSpPr txBox="1"/>
          <p:nvPr/>
        </p:nvSpPr>
        <p:spPr>
          <a:xfrm>
            <a:off x="1905000" y="2238375"/>
            <a:ext cx="6667500" cy="285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300" spc="0" u="none" cap="none">
                <a:solidFill>
                  <a:srgbClr val="000000">
                    <a:alpha val="100000"/>
                  </a:srgbClr>
                </a:solidFill>
                <a:latin typeface="Public Sans Light"/>
              </a:rPr>
              <a:t><![CDATA[Consommateurs : Non spécifié]]></a:t>
            </a:r>
          </a:p>
        </p:txBody>
      </p:sp>
      <p:sp>
        <p:nvSpPr>
          <p:cNvPr id="11" name=""/>
          <p:cNvSpPr txBox="1"/>
          <p:nvPr/>
        </p:nvSpPr>
        <p:spPr>
          <a:xfrm>
            <a:off x="1905000" y="2571750"/>
            <a:ext cx="6667500" cy="285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300" spc="0" u="none" cap="none">
                <a:solidFill>
                  <a:srgbClr val="000000">
                    <a:alpha val="100000"/>
                  </a:srgbClr>
                </a:solidFill>
                <a:latin typeface="Public Sans Light"/>
              </a:rPr>
              <a:t><![CDATA[OM : Non spécifié]]></a:t>
            </a:r>
          </a:p>
        </p:txBody>
      </p:sp>
      <p:sp>
        <p:nvSpPr>
          <p:cNvPr id="12" name="" descr=""/>
          <p:cNvSpPr/>
          <p:nvPr/>
        </p:nvSpPr>
        <p:spPr>
          <a:xfrm>
            <a:off x="381000" y="3000375"/>
            <a:ext cx="8572500" cy="714375"/>
          </a:xfrm>
          <a:prstGeom prst="roundRect">
            <a:avLst/>
          </a:prstGeom>
          <a:solidFill>
            <a:srgbClr val="FFE6F2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3" name=""/>
          <p:cNvSpPr txBox="1"/>
          <p:nvPr/>
        </p:nvSpPr>
        <p:spPr>
          <a:xfrm>
            <a:off x="523875" y="3209925"/>
            <a:ext cx="8286750" cy="4762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i="1" strike="noStrike" sz="1200" spc="0" u="none" cap="none">
                <a:solidFill>
                  <a:srgbClr val="7F8C8D">
                    <a:alpha val="100000"/>
                  </a:srgbClr>
                </a:solidFill>
                <a:latin typeface="Consolas"/>
              </a:rPr>
              <a:t><![CDATA[Non renseigné]]></a:t>
            </a:r>
          </a:p>
        </p:txBody>
      </p:sp>
      <p:sp>
        <p:nvSpPr>
          <p:cNvPr id="14" name="" descr=""/>
          <p:cNvSpPr/>
          <p:nvPr/>
        </p:nvSpPr>
        <p:spPr>
          <a:xfrm>
            <a:off x="619125" y="2905125"/>
            <a:ext cx="714375" cy="209550"/>
          </a:xfrm>
          <a:prstGeom prst="round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5" name=""/>
          <p:cNvSpPr txBox="1"/>
          <p:nvPr/>
        </p:nvSpPr>
        <p:spPr>
          <a:xfrm>
            <a:off x="619125" y="2905125"/>
            <a:ext cx="714375" cy="209550"/>
          </a:xfrm>
          <a:prstGeom prst="rect">
            <a:avLst/>
          </a:prstGeom>
          <a:noFill/>
        </p:spPr>
        <p:txBody>
          <a:bodyPr anchor="ctr" anchorCtr="0" rtlCol="0" vert="horz" bIns="45720" lIns="91440" rIns="91440" tIns="45720">
            <a:spAutoFit/>
          </a:bodyPr>
          <a:lstStyle/>
          <a:p>
            <a:pPr algn="ctr" rtl="0" fontAlgn="ctr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100" spc="0" u="none" cap="none">
                <a:solidFill>
                  <a:srgbClr val="000000">
                    <a:alpha val="100000"/>
                  </a:srgbClr>
                </a:solidFill>
                <a:latin typeface="Enedis"/>
              </a:rPr>
              <a:t><![CDATA[PATH]]></a:t>
            </a:r>
          </a:p>
        </p:txBody>
      </p:sp>
      <p:sp>
        <p:nvSpPr>
          <p:cNvPr id="16" name="" descr=""/>
          <p:cNvSpPr/>
          <p:nvPr/>
        </p:nvSpPr>
        <p:spPr>
          <a:xfrm>
            <a:off x="381000" y="3905250"/>
            <a:ext cx="8572500" cy="714375"/>
          </a:xfrm>
          <a:prstGeom prst="roundRect">
            <a:avLst/>
          </a:prstGeom>
          <a:solidFill>
            <a:srgbClr val="F0E6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7" name=""/>
          <p:cNvSpPr txBox="1"/>
          <p:nvPr/>
        </p:nvSpPr>
        <p:spPr>
          <a:xfrm>
            <a:off x="523875" y="4114800"/>
            <a:ext cx="8286750" cy="4762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i="1" strike="noStrike" sz="1200" spc="0" u="none" cap="none">
                <a:solidFill>
                  <a:srgbClr val="7F8C8D">
                    <a:alpha val="100000"/>
                  </a:srgbClr>
                </a:solidFill>
                <a:latin typeface="Consolas"/>
              </a:rPr>
              <a:t><![CDATA[Non renseigné]]></a:t>
            </a:r>
          </a:p>
        </p:txBody>
      </p:sp>
      <p:sp>
        <p:nvSpPr>
          <p:cNvPr id="18" name="" descr=""/>
          <p:cNvSpPr/>
          <p:nvPr/>
        </p:nvSpPr>
        <p:spPr>
          <a:xfrm>
            <a:off x="619125" y="3810000"/>
            <a:ext cx="714375" cy="209550"/>
          </a:xfrm>
          <a:prstGeom prst="round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9" name=""/>
          <p:cNvSpPr txBox="1"/>
          <p:nvPr/>
        </p:nvSpPr>
        <p:spPr>
          <a:xfrm>
            <a:off x="619125" y="3810000"/>
            <a:ext cx="714375" cy="209550"/>
          </a:xfrm>
          <a:prstGeom prst="rect">
            <a:avLst/>
          </a:prstGeom>
          <a:noFill/>
        </p:spPr>
        <p:txBody>
          <a:bodyPr anchor="ctr" anchorCtr="0" rtlCol="0" vert="horz" bIns="45720" lIns="91440" rIns="91440" tIns="45720">
            <a:spAutoFit/>
          </a:bodyPr>
          <a:lstStyle/>
          <a:p>
            <a:pPr algn="ctr" rtl="0" fontAlgn="ctr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100" spc="0" u="none" cap="none">
                <a:solidFill>
                  <a:srgbClr val="000000">
                    <a:alpha val="100000"/>
                  </a:srgbClr>
                </a:solidFill>
                <a:latin typeface="Enedis"/>
              </a:rPr>
              <a:t><![CDATA[HIVE]]></a:t>
            </a:r>
          </a:p>
        </p:txBody>
      </p:sp>
      <p:sp>
        <p:nvSpPr>
          <p:cNvPr id="20" name=""/>
          <p:cNvSpPr txBox="1"/>
          <p:nvPr/>
        </p:nvSpPr>
        <p:spPr>
          <a:xfrm>
            <a:off x="381000" y="4810125"/>
            <a:ext cx="2857500" cy="190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100" spc="0" u="none" cap="none">
                <a:solidFill>
                  <a:srgbClr val="1423DC">
                    <a:alpha val="100000"/>
                  </a:srgbClr>
                </a:solidFill>
                <a:latin typeface="Enedis"/>
              </a:rPr>
              <a:t><![CDATA[ENEDIS]]></a:t>
            </a:r>
          </a:p>
        </p:txBody>
      </p:sp>
      <p:sp>
        <p:nvSpPr>
          <p:cNvPr id="21" name=""/>
          <p:cNvSpPr txBox="1"/>
          <p:nvPr/>
        </p:nvSpPr>
        <p:spPr>
          <a:xfrm>
            <a:off x="4191000" y="4810125"/>
            <a:ext cx="4572000" cy="190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100" spc="0" u="none" cap="none">
                <a:solidFill>
                  <a:srgbClr val="595959">
                    <a:alpha val="100000"/>
                  </a:srgbClr>
                </a:solidFill>
                <a:latin typeface="Public Sans Light"/>
              </a:rPr>
              <a:t><![CDATA[B4A-39669  ·  Ting (Dev)]]>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eme69">
  <a:themeElements>
    <a:clrScheme name="Theme69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Theme69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Theme69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h="25400" w="635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b="180000" l="50000" r="50000" t="-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b="50000" l="50000" r="50000" t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11</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" baseType="lpstr">
      <vt:lpstr>Office Theme</vt:lpstr>
    </vt:vector>
  </TitlesOfParts>
  <Company>Unknown Company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Unknown Creator</dc:creator>
  <cp:lastModifiedBy>Unknown Creator</cp:lastModifiedBy>
  <dcterms:created xsi:type="dcterms:W3CDTF">2026-10-22T11:27:50Z</dcterms:created>
  <dcterms:modified xsi:type="dcterms:W3CDTF">2026-10-22T11:27:50Z</dcterms:modified>
  <dc:title>Untitled Presentation</dc:title>
  <dc:description/>
  <dc:subject/>
  <cp:keywords/>
  <cp:category/>
  <cp:revision/>
  <cp:contentStatus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