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8168534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Revue de sprint – DLK PI#DI06 SP3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714375"/>
            <a:ext cx="8572500" cy="4286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Du 12/10/2026 au 23/10/2026]]></a:t>
            </a:r>
          </a:p>
        </p:txBody>
      </p:sp>
      <p:sp>
        <p:nvSpPr>
          <p:cNvPr id="4" name="" descr=""/>
          <p:cNvSpPr/>
          <p:nvPr/>
        </p:nvSpPr>
        <p:spPr>
          <a:xfrm>
            <a:off x="381000" y="1238250"/>
            <a:ext cx="1333500" cy="857250"/>
          </a:xfrm>
          <a:prstGeom prst="roundRect">
            <a:avLst/>
          </a:prstGeom>
          <a:solidFill>
            <a:srgbClr val="1423D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19]]></a:t>
            </a:r>
          </a:p>
        </p:txBody>
      </p:sp>
      <p:sp>
        <p:nvSpPr>
          <p:cNvPr id="6" name=""/>
          <p:cNvSpPr txBox="1"/>
          <p:nvPr/>
        </p:nvSpPr>
        <p:spPr>
          <a:xfrm>
            <a:off x="4381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Tickets]]></a:t>
            </a:r>
          </a:p>
        </p:txBody>
      </p:sp>
      <p:sp>
        <p:nvSpPr>
          <p:cNvPr id="7" name="" descr=""/>
          <p:cNvSpPr/>
          <p:nvPr/>
        </p:nvSpPr>
        <p:spPr>
          <a:xfrm>
            <a:off x="1828800" y="1238250"/>
            <a:ext cx="1333500" cy="85725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18288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6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8859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À fair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3276600" y="1238250"/>
            <a:ext cx="1333500" cy="85725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32766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9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33337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n cours]]></a:t>
            </a:r>
          </a:p>
        </p:txBody>
      </p:sp>
      <p:sp>
        <p:nvSpPr>
          <p:cNvPr id="13" name="" descr=""/>
          <p:cNvSpPr/>
          <p:nvPr/>
        </p:nvSpPr>
        <p:spPr>
          <a:xfrm>
            <a:off x="4724400" y="1238250"/>
            <a:ext cx="1333500" cy="85725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47244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4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7815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Terminés]]></a:t>
            </a:r>
          </a:p>
        </p:txBody>
      </p:sp>
      <p:sp>
        <p:nvSpPr>
          <p:cNvPr id="16" name="" descr=""/>
          <p:cNvSpPr/>
          <p:nvPr/>
        </p:nvSpPr>
        <p:spPr>
          <a:xfrm>
            <a:off x="6172200" y="1238250"/>
            <a:ext cx="1333500" cy="857250"/>
          </a:xfrm>
          <a:prstGeom prst="roundRect">
            <a:avLst/>
          </a:prstGeom>
          <a:solidFill>
            <a:srgbClr val="E67E2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61722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4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62293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Ajoutés en cours de sprint]]></a:t>
            </a:r>
          </a:p>
        </p:txBody>
      </p:sp>
      <p:sp>
        <p:nvSpPr>
          <p:cNvPr id="19" name="" descr=""/>
          <p:cNvSpPr/>
          <p:nvPr/>
        </p:nvSpPr>
        <p:spPr>
          <a:xfrm>
            <a:off x="7620000" y="1238250"/>
            <a:ext cx="1333500" cy="857250"/>
          </a:xfrm>
          <a:prstGeom prst="roundRect">
            <a:avLst/>
          </a:prstGeom>
          <a:solidFill>
            <a:srgbClr val="595959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7620000" y="1295400"/>
            <a:ext cx="1333500" cy="419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3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7677150" y="1733550"/>
            <a:ext cx="12192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Sortis du sprint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381000" y="2247900"/>
            <a:ext cx="53340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Avancement : 21 % (4 / 19 tickets)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5715000" y="2247900"/>
            <a:ext cx="3238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Points : 18 / 73]]></a:t>
            </a:r>
          </a:p>
        </p:txBody>
      </p:sp>
      <p:sp>
        <p:nvSpPr>
          <p:cNvPr id="24" name="" descr=""/>
          <p:cNvSpPr/>
          <p:nvPr/>
        </p:nvSpPr>
        <p:spPr>
          <a:xfrm>
            <a:off x="381000" y="2533650"/>
            <a:ext cx="8572500" cy="133350"/>
          </a:xfrm>
          <a:prstGeom prst="roundRect">
            <a:avLst/>
          </a:prstGeom>
          <a:solidFill>
            <a:srgbClr val="E0E0E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5" name="" descr=""/>
          <p:cNvSpPr/>
          <p:nvPr/>
        </p:nvSpPr>
        <p:spPr>
          <a:xfrm>
            <a:off x="381000" y="2533650"/>
            <a:ext cx="1800225" cy="13335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6" name=""/>
          <p:cNvSpPr txBox="1"/>
          <p:nvPr/>
        </p:nvSpPr>
        <p:spPr>
          <a:xfrm>
            <a:off x="381000" y="2905125"/>
            <a:ext cx="409575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Périmètre de la démo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381000" y="3162300"/>
            <a:ext cx="4095750" cy="1333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Présentés en démo : 10]]></a:t>
            </a:r>
            <a:br/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Éligibles sans dev identifiable : 1]]></a:t>
            </a:r>
            <a:br/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Hors périmètre démo (autres types / statuts) : 8]]></a:t>
            </a:r>
            <a:br/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Dont attribués via l'historique : 5]]></a:t>
            </a:r>
          </a:p>
        </p:txBody>
      </p:sp>
      <p:sp>
        <p:nvSpPr>
          <p:cNvPr id="28" name=""/>
          <p:cNvSpPr txBox="1"/>
          <p:nvPr/>
        </p:nvSpPr>
        <p:spPr>
          <a:xfrm>
            <a:off x="4667250" y="2905125"/>
            <a:ext cx="428625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Répartition par développeur]]></a:t>
            </a:r>
          </a:p>
        </p:txBody>
      </p:sp>
      <p:sp>
        <p:nvSpPr>
          <p:cNvPr id="29" name=""/>
          <p:cNvSpPr txBox="1"/>
          <p:nvPr/>
        </p:nvSpPr>
        <p:spPr>
          <a:xfrm>
            <a:off x="4667250" y="3162300"/>
            <a:ext cx="4286250" cy="1524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Ting (Dev) : 4 tickets, dont 1 terminé]]></a:t>
            </a:r>
            <a:br/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Arij (Dev) : 3 tickets, dont 1 terminé]]></a:t>
            </a:r>
            <a:br/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Kenza (Dev) : 3 tickets, dont 1 terminé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HDR – Flux coupures-troncon-bt-resynchr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714375"/>
            <a:ext cx="8572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HDR est un SI dont le cœur de métier est de connaitre l’intégralité de la topologie réseau détenu par ENEDIS. De l’aval connecté à RTE aux PRM représentants les compteurs linky.]]></a:t>
            </a:r>
          </a:p>
        </p:txBody>
      </p:sp>
      <p:sp>
        <p:nvSpPr>
          <p:cNvPr id="4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33989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ouveau]]></a:t>
            </a:r>
          </a:p>
        </p:txBody>
      </p:sp>
      <p:sp>
        <p:nvSpPr>
          <p:cNvPr id="6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8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 ]]></a:t>
            </a:r>
          </a:p>
        </p:txBody>
      </p:sp>
      <p:sp>
        <p:nvSpPr>
          <p:cNvPr id="13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HDR/FRA/COUPURE_TRONCON_BT_RESYNCHRO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7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hdr_coupures_troncon_bt_resynchro_fra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443  ·  Arij (Dev)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HDR – Flux coupures-troncon-bt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714375"/>
            <a:ext cx="8572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HDR est un SI dont le cœur de métier est de connaitre l’intégralité de la topologie réseau détenu par ENEDIS. De l’aval connecté à RTE aux PRM représentants les compteurs linky.]]></a:t>
            </a:r>
          </a:p>
        </p:txBody>
      </p:sp>
      <p:sp>
        <p:nvSpPr>
          <p:cNvPr id="4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33989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ouveau]]></a:t>
            </a:r>
          </a:p>
        </p:txBody>
      </p:sp>
      <p:sp>
        <p:nvSpPr>
          <p:cNvPr id="6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8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 ]]></a:t>
            </a:r>
          </a:p>
        </p:txBody>
      </p:sp>
      <p:sp>
        <p:nvSpPr>
          <p:cNvPr id="13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HDR/FRA/COUPURE_TRONCON_BT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7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hdr_coupures_troncon_bt_fra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445  ·  Arij (Dev)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CAMPUS – Ajout d'un champ dans 3 OM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E67E2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FILE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 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ECAMPUS/FRA/UTILISATEURS_EDF    ]]></a:t>
            </a:r>
            <a:br/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ECAMPUS/FRA/UTILISATEURS_ENEDIS]]></a:t>
            </a:r>
            <a:br/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ECAMPUS/FRA/UTILISATEURS_FP  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 ecampus_utilisateurs_edf_fra                       ]]></a:t>
            </a:r>
            <a:br/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ecampus_utilisateurs_enedis_fra                    ]]></a:t>
            </a:r>
            <a:br/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ecampus_utilisateurs_fp_fra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442  ·  Kenza (Dev)  ·  déduit de l'historique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HDR – Evénements dynamiques enrichi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714375"/>
            <a:ext cx="8572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HDR est un SI dont le cœur de métier est de connaitre l’intégralité de la topologie réseau détenu par ENEDIS. De l’aval connecté à RTE aux PRM représentants les compteurs linky.]]></a:t>
            </a:r>
          </a:p>
        </p:txBody>
      </p:sp>
      <p:sp>
        <p:nvSpPr>
          <p:cNvPr id="4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6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8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HDR 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3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HDR/FRA/EVENEMENT_DYNAMIQUE_ENRICHI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7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hdr_evenement_dynamique_enrichi_fra]]></a:t>
            </a:r>
            <a:br/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 ]]></a:t>
            </a:r>
            <a:br/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 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940  ·  Ting (Dev)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HDR – Coupure PRM chevauchement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714375"/>
            <a:ext cx="8572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HDR est un SI dont le cœur de métier est de connaitre l’intégralité de la topologie réseau détenu par ENEDIS. De l’aval connecté à RTE aux PRM représentants les compteurs linky.]]></a:t>
            </a:r>
          </a:p>
        </p:txBody>
      </p:sp>
      <p:sp>
        <p:nvSpPr>
          <p:cNvPr id="4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6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8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HDR 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3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HDR/FRA/CHEVAUCHEMENT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7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hdr_chevauchement_fra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941  ·  Ting (Dev)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INGENG – [PROTO] Recette de bout en bout de l'ingestion KAFKA PROTO (sur eStock)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Terminé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8418  ·  Arij (Dev)  ·  déduit de l'historique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DLK – Migration datalake rh vers la stack DENG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DRHB4A1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 /projects/PRD/HAS/DLK/trusted-zone/DATALAKE_RH/FRA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datalake_rh_*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4816  ·  Kenza (Dev)  ·  déduit de l'historique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SI ? – [API CASAI3C] Migrer de Spark2 vers Spark3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Terminé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461  ·  Kenza (Dev)  ·  déduit de l'historique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SI ? – Flow report weekly: déplacer les flux non quotidiens dedans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Terminé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287  ·  Ting (Dev)  ·  déduit de l'historique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SI ? – Montée de version F2L sur la 5r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191000" y="4810125"/>
            <a:ext cx="45720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669  ·  Ting (Dev)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71">
  <a:themeElements>
    <a:clrScheme name="Theme7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2026-10-22T11:37:56Z</dcterms:created>
  <dcterms:modified xsi:type="dcterms:W3CDTF">2026-10-22T11:37:56Z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