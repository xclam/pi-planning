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678721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-resynchr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 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_RESYNCHRO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resynchro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3  ·  Arij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HDR – Flux coupures-troncon-bt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81000" y="714375"/>
            <a:ext cx="857250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HDR est un SI dont le cœur de métier est de connaitre l’intégralité de la topologie réseau détenu par ENEDIS. De l’aval connecté à RTE aux PRM représentants les compteurs linky.]]></a:t>
            </a:r>
          </a:p>
        </p:txBody>
      </p:sp>
      <p:sp>
        <p:nvSpPr>
          <p:cNvPr id="4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33989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ouveau]]></a:t>
            </a:r>
          </a:p>
        </p:txBody>
      </p:sp>
      <p:sp>
        <p:nvSpPr>
          <p:cNvPr id="6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8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 ]]></a:t>
            </a:r>
          </a:p>
        </p:txBody>
      </p:sp>
      <p:sp>
        <p:nvSpPr>
          <p:cNvPr id="13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OUPURE_TRONCON_BT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7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oupures_troncon_bt_fra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5  ·  Arij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CAMPUS – Ajout d'un champ dans 3 OM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E67E2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FILE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 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EDF   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ENEDIS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ECAMPUS/FRA/UTILISATEURS_FP  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ecampus_utilisateurs_edf_fra                      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ecampus_utilisateurs_enedis_fra                   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ecampus_utilisateurs_fp_fr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42  ·  ROMAIN JOLIVOT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[HDR][MCO] Evénements dynamiques enrichis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 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EVENEMENT_DYNAMIQUE_ENRICHI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evenement_dynamique_enrichi_fra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]]></a:t>
            </a:r>
            <a:br/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0  ·  Ting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[HDR][MCO] Coupure PRM chevauchement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HDR 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/projects/PRD/HAS/DLK/trusted-zone/HDR/FRA/CHEVAUCHEMENT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hdr_chevauchement_fr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941  ·  Ting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[DLK] Migration datalake rh vers la stack DENG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DRHB4A1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 /projects/PRD/HAS/DLK/trusted-zone/DATALAKE_RH/FRA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000000">
                    <a:alpha val="100000"/>
                  </a:srgbClr>
                </a:solidFill>
                <a:latin typeface="Consolas"/>
              </a:rPr>
              <a:t><![CDATA[datalake_rh_*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4816  ·  Ana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État des lieux des flux restants en Spark2 et bascule sur Spark3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5741  ·  Ana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Flow report weekly: déplacer les flux non quotidiens dedans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287  ·  Ana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[API CASAI3C] Migrer de Spark2 vers Spark3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461  ·  Ana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[IngEng][K2U][PROTO] Recette de bout en bout de l'ingestion KAFKA PROTO (sur eStock)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Terminé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KAFK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8418  ·  ROMAIN JOLIVOT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381000" y="285750"/>
          <a:ext cx="8953500" cy="5000625"/>
          <a:chOff x="381000" y="285750"/>
          <a:chExt cx="8953500" cy="5000625"/>
        </a:xfrm>
      </p:grpSpPr>
      <p:sp>
        <p:nvSpPr>
          <p:cNvPr id="2" name=""/>
          <p:cNvSpPr txBox="1"/>
          <p:nvPr/>
        </p:nvSpPr>
        <p:spPr>
          <a:xfrm>
            <a:off x="381000" y="285750"/>
            <a:ext cx="8572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SI ? – Montée de version F2L sur la 5r]]></a:t>
            </a:r>
          </a:p>
        </p:txBody>
      </p:sp>
      <p:sp>
        <p:nvSpPr>
          <p:cNvPr id="3" name="" descr=""/>
          <p:cNvSpPr/>
          <p:nvPr/>
        </p:nvSpPr>
        <p:spPr>
          <a:xfrm>
            <a:off x="381000" y="1333500"/>
            <a:ext cx="952500" cy="304800"/>
          </a:xfrm>
          <a:prstGeom prst="roundRect">
            <a:avLst/>
          </a:prstGeom>
          <a:solidFill>
            <a:srgbClr val="1ABC9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381000" y="13335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Evolution]]></a:t>
            </a:r>
          </a:p>
        </p:txBody>
      </p:sp>
      <p:sp>
        <p:nvSpPr>
          <p:cNvPr id="5" name="" descr=""/>
          <p:cNvSpPr/>
          <p:nvPr/>
        </p:nvSpPr>
        <p:spPr>
          <a:xfrm>
            <a:off x="381000" y="1762125"/>
            <a:ext cx="952500" cy="304800"/>
          </a:xfrm>
          <a:prstGeom prst="roundRect">
            <a:avLst/>
          </a:prstGeom>
          <a:solidFill>
            <a:srgbClr val="8E44A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381000" y="1762125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Recette]]></a:t>
            </a:r>
          </a:p>
        </p:txBody>
      </p:sp>
      <p:sp>
        <p:nvSpPr>
          <p:cNvPr id="7" name="" descr=""/>
          <p:cNvSpPr/>
          <p:nvPr/>
        </p:nvSpPr>
        <p:spPr>
          <a:xfrm>
            <a:off x="381000" y="2286000"/>
            <a:ext cx="952500" cy="304800"/>
          </a:xfrm>
          <a:prstGeom prst="roundRect">
            <a:avLst/>
          </a:prstGeom>
          <a:solidFill>
            <a:srgbClr val="7F8C8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381000" y="2286000"/>
            <a:ext cx="952500" cy="30480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200" spc="0" u="none" cap="none">
                <a:solidFill>
                  <a:srgbClr val="FFFFFF">
                    <a:alpha val="100000"/>
                  </a:srgbClr>
                </a:solidFill>
                <a:latin typeface="Public Sans Light"/>
              </a:rPr>
              <a:t><![CDATA[N/C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905000" y="1333500"/>
            <a:ext cx="6667500" cy="857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400" spc="0" u="none" cap="none">
                <a:solidFill>
                  <a:srgbClr val="7F8C8D">
                    <a:alpha val="100000"/>
                  </a:srgbClr>
                </a:solidFill>
                <a:latin typeface="Public Sans Light"/>
              </a:rPr>
              <a:t><![CDATA[Objectif non renseigné dans le ticke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1905000" y="2238375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Consommateurs : Non spécifié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1905000" y="2571750"/>
            <a:ext cx="6667500" cy="285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000000">
                    <a:alpha val="100000"/>
                  </a:srgbClr>
                </a:solidFill>
                <a:latin typeface="Public Sans Light"/>
              </a:rPr>
              <a:t><![CDATA[OM : Non spécifié]]></a:t>
            </a:r>
          </a:p>
        </p:txBody>
      </p:sp>
      <p:sp>
        <p:nvSpPr>
          <p:cNvPr id="12" name="" descr=""/>
          <p:cNvSpPr/>
          <p:nvPr/>
        </p:nvSpPr>
        <p:spPr>
          <a:xfrm>
            <a:off x="381000" y="3000375"/>
            <a:ext cx="8572500" cy="714375"/>
          </a:xfrm>
          <a:prstGeom prst="roundRect">
            <a:avLst/>
          </a:prstGeom>
          <a:solidFill>
            <a:srgbClr val="FFE6F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523875" y="3209925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4" name="" descr=""/>
          <p:cNvSpPr/>
          <p:nvPr/>
        </p:nvSpPr>
        <p:spPr>
          <a:xfrm>
            <a:off x="619125" y="2905125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619125" y="2905125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PATH]]></a:t>
            </a:r>
          </a:p>
        </p:txBody>
      </p:sp>
      <p:sp>
        <p:nvSpPr>
          <p:cNvPr id="16" name="" descr=""/>
          <p:cNvSpPr/>
          <p:nvPr/>
        </p:nvSpPr>
        <p:spPr>
          <a:xfrm>
            <a:off x="381000" y="3905250"/>
            <a:ext cx="8572500" cy="714375"/>
          </a:xfrm>
          <a:prstGeom prst="roundRect">
            <a:avLst/>
          </a:prstGeom>
          <a:solidFill>
            <a:srgbClr val="F0E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523875" y="4114800"/>
            <a:ext cx="8286750" cy="476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1200" spc="0" u="none" cap="none">
                <a:solidFill>
                  <a:srgbClr val="7F8C8D">
                    <a:alpha val="100000"/>
                  </a:srgbClr>
                </a:solidFill>
                <a:latin typeface="Consolas"/>
              </a:rPr>
              <a:t><![CDATA[Non renseigné]]></a:t>
            </a:r>
          </a:p>
        </p:txBody>
      </p:sp>
      <p:sp>
        <p:nvSpPr>
          <p:cNvPr id="18" name="" descr=""/>
          <p:cNvSpPr/>
          <p:nvPr/>
        </p:nvSpPr>
        <p:spPr>
          <a:xfrm>
            <a:off x="619125" y="3810000"/>
            <a:ext cx="714375" cy="20955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619125" y="3810000"/>
            <a:ext cx="714375" cy="209550"/>
          </a:xfrm>
          <a:prstGeom prst="rect">
            <a:avLst/>
          </a:prstGeom>
          <a:noFill/>
        </p:spPr>
        <p:txBody>
          <a:bodyPr anchor="ctr" anchorCtr="0" rtlCol="0" vert="horz" bIns="45720" lIns="91440" rIns="91440" tIns="45720">
            <a:spAutoFit/>
          </a:bodyPr>
          <a:lstStyle/>
          <a:p>
            <a:pPr algn="ctr" rtl="0" fontAlgn="ctr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000000">
                    <a:alpha val="100000"/>
                  </a:srgbClr>
                </a:solidFill>
                <a:latin typeface="Enedis"/>
              </a:rPr>
              <a:t><![CDATA[HIVE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81000" y="4810125"/>
            <a:ext cx="2857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1423DC">
                    <a:alpha val="100000"/>
                  </a:srgbClr>
                </a:solidFill>
                <a:latin typeface="Enedis"/>
              </a:rPr>
              <a:t><![CDATA[ENEDI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762500" y="4810125"/>
            <a:ext cx="4000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595959">
                    <a:alpha val="100000"/>
                  </a:srgbClr>
                </a:solidFill>
                <a:latin typeface="Public Sans Light"/>
              </a:rPr>
              <a:t><![CDATA[B4A-39669  ·  Ting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0">
  <a:themeElements>
    <a:clrScheme name="Theme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2026-10-22T09:47:28Z</dcterms:created>
  <dcterms:modified xsi:type="dcterms:W3CDTF">2026-10-22T09:47:28Z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